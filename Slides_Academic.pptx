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2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3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4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Arial"/>
              </a:rPr>
              <a:t>So sánh phần thưởng tail-50 (1M bước)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Reward tail-50 @ 1M bước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run34 (PPO)</c:v>
                  </c:pt>
                  <c:pt idx="1">
                    <c:v>run35 (ICM)</c:v>
                  </c:pt>
                  <c:pt idx="2">
                    <c:v>run36 (RND)</c:v>
                  </c:pt>
                  <c:pt idx="3">
                    <c:v>run42 (LSTM)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2.073</c:v>
                </c:pt>
                <c:pt idx="1">
                  <c:v>2.416</c:v>
                </c:pt>
                <c:pt idx="2">
                  <c:v>2.487</c:v>
                </c:pt>
                <c:pt idx="3">
                  <c:v>2.411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Arial"/>
              </a:rPr>
              <a:t>So sánh các thí nghiệm dùng CL (3M bước)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Reward trung bình trên nhóm Khó</c:v>
                </c:pt>
              </c:strCache>
            </c:strRef>
          </c:tx>
          <c:spPr>
            <a:solidFill>
              <a:srgbClr val="84CC1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run46
CL</c:v>
                  </c:pt>
                  <c:pt idx="1">
                    <c:v>run47
CL+LSTM</c:v>
                  </c:pt>
                  <c:pt idx="2">
                    <c:v>run50
CL+ICM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3.843</c:v>
                </c:pt>
                <c:pt idx="1">
                  <c:v>3.765</c:v>
                </c:pt>
                <c:pt idx="2">
                  <c:v>4.369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Arial"/>
              </a:rPr>
              <a:t>Entropy tail-50 của các run chính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Entropy tail-50 (nat)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run34</c:v>
                  </c:pt>
                  <c:pt idx="1">
                    <c:v>run35</c:v>
                  </c:pt>
                  <c:pt idx="2">
                    <c:v>run36</c:v>
                  </c:pt>
                  <c:pt idx="3">
                    <c:v>run42</c:v>
                  </c:pt>
                  <c:pt idx="4">
                    <c:v>run46</c:v>
                  </c:pt>
                  <c:pt idx="5">
                    <c:v>run47</c:v>
                  </c:pt>
                  <c:pt idx="6">
                    <c:v>run50</c:v>
                  </c:pt>
                  <c:pt idx="7">
                    <c:v>run54</c:v>
                  </c:pt>
                  <c:pt idx="8">
                    <c:v>run55</c:v>
                  </c:pt>
                  <c:pt idx="9">
                    <c:v>run62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4.408</c:v>
                </c:pt>
                <c:pt idx="1">
                  <c:v>4.407</c:v>
                </c:pt>
                <c:pt idx="2">
                  <c:v>4.406</c:v>
                </c:pt>
                <c:pt idx="3">
                  <c:v>4.405</c:v>
                </c:pt>
                <c:pt idx="4">
                  <c:v>4.409</c:v>
                </c:pt>
                <c:pt idx="5">
                  <c:v>4.405</c:v>
                </c:pt>
                <c:pt idx="6">
                  <c:v>4.412</c:v>
                </c:pt>
                <c:pt idx="7">
                  <c:v>4.407</c:v>
                </c:pt>
                <c:pt idx="8">
                  <c:v>4.408</c:v>
                </c:pt>
                <c:pt idx="9">
                  <c:v>3.048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6"/>
          <c:min val="2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Clear rate</c:v>
                </c:pt>
              </c:strCache>
            </c:strRef>
          </c:tx>
          <c:spPr>
            <a:solidFill>
              <a:srgbClr val="84CC16">
                <a:alpha val="80000"/>
              </a:srgbClr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4CC1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run46
CL cơ sở (207D)</c:v>
                  </c:pt>
                  <c:pt idx="1">
                    <c:v>run62
Lưới cục bộ (432D)</c:v>
                  </c:pt>
                  <c:pt idx="2">
                    <c:v>run59
BFS (210D)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0.267</c:v>
                </c:pt>
                <c:pt idx="1">
                  <c:v>0.666</c:v>
                </c:pt>
                <c:pt idx="2">
                  <c:v>0.846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mbria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mbria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mbria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mbria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mbria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Cambria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Cambria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Cambria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Cambria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mbria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Cambria" pitchFamily="34" charset="0"/>
        <a:buChar char="•"/>
        <a:defRPr sz="3200" kern="1200">
          <a:solidFill>
            <a:schemeClr val="tx1"/>
          </a:solidFill>
          <a:latin typeface="Cambria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ambria" pitchFamily="34" charset="0"/>
        <a:buChar char="–"/>
        <a:defRPr sz="2800" kern="1200">
          <a:solidFill>
            <a:schemeClr val="tx1"/>
          </a:solidFill>
          <a:latin typeface="Cambria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ambria" pitchFamily="34" charset="0"/>
        <a:buChar char="•"/>
        <a:defRPr sz="2400" kern="1200">
          <a:solidFill>
            <a:schemeClr val="tx1"/>
          </a:solidFill>
          <a:latin typeface="Cambria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ambria" pitchFamily="34" charset="0"/>
        <a:buChar char="–"/>
        <a:defRPr sz="2000" kern="1200">
          <a:solidFill>
            <a:schemeClr val="tx1"/>
          </a:solidFill>
          <a:latin typeface="Cambria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Cambria" pitchFamily="34" charset="0"/>
        <a:buChar char="»"/>
        <a:defRPr sz="2000" kern="1200">
          <a:solidFill>
            <a:schemeClr val="tx1"/>
          </a:solidFill>
          <a:latin typeface="Cambria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ambria" pitchFamily="34" charset="0"/>
        <a:buChar char="•"/>
        <a:defRPr sz="2000" kern="1200">
          <a:solidFill>
            <a:schemeClr val="tx1"/>
          </a:solidFill>
          <a:latin typeface="Cambria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Cambria" pitchFamily="34" charset="0"/>
        <a:buChar char="•"/>
        <a:defRPr sz="2000" kern="1200">
          <a:solidFill>
            <a:schemeClr val="tx1"/>
          </a:solidFill>
          <a:latin typeface="Cambria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ambria" pitchFamily="34" charset="0"/>
        <a:buChar char="•"/>
        <a:defRPr sz="2000" kern="1200">
          <a:solidFill>
            <a:schemeClr val="tx1"/>
          </a:solidFill>
          <a:latin typeface="Cambria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Cambria" pitchFamily="34" charset="0"/>
        <a:buChar char="•"/>
        <a:defRPr sz="2000" kern="1200">
          <a:solidFill>
            <a:schemeClr val="tx1"/>
          </a:solidFill>
          <a:latin typeface="Cambria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Cambria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Cambria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Cambria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Cambria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Cambria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Cambria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Cambria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Cambria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Cambria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C9C2B5">
              <a:alpha val="25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C9C2B5">
              <a:alpha val="20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C9C2B5">
              <a:alpha val="15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ĐẠI HỌC QUỐC GIA HÀ NỘI  •  TRƯỜNG ĐẠI HỌC CÔNG NGHỆ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1188720"/>
            <a:ext cx="228600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KHÓA LUẬN TỐT NGHIỆP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NGHIÊN CỨU VÀ ỨNG DỤNG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HỌC TĂNG CƯỜNG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để xây dựng AGENT trong thể loại game ROGUELIKE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114800" y="4023360"/>
            <a:ext cx="3931920" cy="0"/>
          </a:xfrm>
          <a:prstGeom prst="line">
            <a:avLst/>
          </a:prstGeom>
          <a:noFill/>
          <a:ln w="254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Sinh viên thực hiện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7512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Giảng viên hướng dẫn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PGS. TS. Nguyễn Trí Thành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00400" y="5486400"/>
            <a:ext cx="1645920" cy="320040"/>
          </a:xfrm>
          <a:prstGeom prst="roundRect">
            <a:avLst>
              <a:gd name="adj" fmla="val 51429"/>
            </a:avLst>
          </a:prstGeom>
          <a:solidFill>
            <a:srgbClr val="C9C2B5">
              <a:alpha val="15000"/>
            </a:srgbClr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5486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D4E"/>
                </a:solidFill>
              </a:rPr>
              <a:t>Deep RL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5486400"/>
            <a:ext cx="1645920" cy="320040"/>
          </a:xfrm>
          <a:prstGeom prst="roundRect">
            <a:avLst>
              <a:gd name="adj" fmla="val 51429"/>
            </a:avLst>
          </a:prstGeom>
          <a:solidFill>
            <a:srgbClr val="C9C2B5">
              <a:alpha val="15000"/>
            </a:srgbClr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5486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D4E"/>
                </a:solidFill>
              </a:rPr>
              <a:t>PPO + ML-Agents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5486400"/>
            <a:ext cx="1645920" cy="320040"/>
          </a:xfrm>
          <a:prstGeom prst="roundRect">
            <a:avLst>
              <a:gd name="adj" fmla="val 51429"/>
            </a:avLst>
          </a:prstGeom>
          <a:solidFill>
            <a:srgbClr val="C9C2B5">
              <a:alpha val="15000"/>
            </a:srgbClr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5486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D4E"/>
                </a:solidFill>
              </a:rPr>
              <a:t>PCGNN + Unity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500" kern="0" dirty="0">
                <a:solidFill>
                  <a:srgbClr val="6F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HÀ NỘI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 TRÌNH BÀY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371600" cy="0"/>
          </a:xfrm>
          <a:prstGeom prst="line">
            <a:avLst/>
          </a:prstGeom>
          <a:noFill/>
          <a:ln w="381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Mở đầu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1874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Bối cảnh, bài toán, mục tiêu MT1–MT4, câu hỏi nghiên cứu Q1–Q3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2331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Cơ sở lý thuyết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2651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RL, PPO, ICM/RND, LSTM, PCGNN, Curriculum Learning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089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3108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hệ thống tác nhân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3429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POMDP, không gian quan sát 207D, hành động (3,3,3,9), hàm thưởng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86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" y="3886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Cài đặt và thực nghiệm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5920" y="4206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Môi trường Unity, ma trận 9 thí nghiệm cô lập biến + 2 mở rộng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663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45920" y="4663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và đánh giá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4592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 trò của CL, kỹ thuật khám phá, vùng bão hòa entropy, run59/run62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44068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4406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645920" y="5440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 và hướng phát triển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4592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Đối chiếu mục tiêu, đóng góp, hạn chế và mở rộng tiếp theo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C9C2B5">
              <a:alpha val="25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C9C2B5">
              <a:alpha val="20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C9C2B5">
              <a:alpha val="15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6F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MỞ ĐẦU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166360" y="4846320"/>
            <a:ext cx="1828800" cy="0"/>
          </a:xfrm>
          <a:prstGeom prst="line">
            <a:avLst/>
          </a:prstGeom>
          <a:noFill/>
          <a:ln w="381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F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Bối cảnh, bài toán, mục tiêu và câu hỏi nghiên cứu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MỞ ĐẦU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Bối cảnh &amp; ba thách thức của bài toán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hành động Roguelike đặt ra ba thách thức đồng thời cho RL agent: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1247120" cy="1143000"/>
          </a:xfrm>
          <a:prstGeom prst="roundRect">
            <a:avLst>
              <a:gd name="adj" fmla="val 9600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77440"/>
            <a:ext cx="594360" cy="5943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286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phối bản đồ thay đổi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6517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Mỗi lượt chơi (episode) là một bản đồ PCGNN khác nhau ⇒ tác nhân không thể ghi nhớ bố cục, phải khái quát hóa qua nhiều cấu hình không gian.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11247120" cy="1143000"/>
          </a:xfrm>
          <a:prstGeom prst="roundRect">
            <a:avLst>
              <a:gd name="adj" fmla="val 9600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703320"/>
            <a:ext cx="594360" cy="5943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03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3611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gian hành động đa nhánh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39776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(3, 3, 3, 9) = 243 tổ hợp – phải phối hợp đồng thời di chuyển, chiến đấu, lướt và hướng tấn công trong thời gian thực.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11247120" cy="1143000"/>
          </a:xfrm>
          <a:prstGeom prst="roundRect">
            <a:avLst>
              <a:gd name="adj" fmla="val 9600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029200"/>
            <a:ext cx="594360" cy="5943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029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54480" y="4937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 thưởng thưa thớt và trễ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53035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Tín hiệu quan trọng (hạ kẻ địch, dọn phòng) chỉ xuất hiện sau chuỗi tiếp cận – né tránh – căn hướng – tấn công.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⇒ Cần kết hợp nhiều cơ chế (CL + khám phá + biểu diễn) thay vì chỉ dùng PPO đơn thuần.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MỞ ĐẦU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biểu bài toán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 môi trường Unity tạo phòng chiến đấu Roguelike tự động, huấn luyện một tác nhân RL tự điều khiển nhân vật để dọn sạch kẻ địch.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623560" cy="1508760"/>
          </a:xfrm>
          <a:prstGeom prst="roundRect">
            <a:avLst>
              <a:gd name="adj" fmla="val 6061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76200" dist="25400" dir="5400000">
              <a:srgbClr val="C9C2B5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377440"/>
            <a:ext cx="109728" cy="1508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▸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514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 SÁT (input)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926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207 chiều mô tả tác nhân, kẻ địch trong tầm nhìn, đạn đang bay và tường xung quanh.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377440"/>
            <a:ext cx="5623560" cy="1508760"/>
          </a:xfrm>
          <a:prstGeom prst="roundRect">
            <a:avLst>
              <a:gd name="adj" fmla="val 6061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76200" dist="25400" dir="5400000">
              <a:srgbClr val="C9C2B5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2377440"/>
            <a:ext cx="109728" cy="1508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▸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178040" y="2514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HÀNH ĐỘNG (output)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78040" y="2926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Đa nhánh rời rạc (3, 3, 3, 9): moveX, moveY, lệnh chiến đấu/lướt, hướng ngắm.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5623560" cy="1508760"/>
          </a:xfrm>
          <a:prstGeom prst="roundRect">
            <a:avLst>
              <a:gd name="adj" fmla="val 6061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76200" dist="25400" dir="5400000">
              <a:srgbClr val="C9C2B5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069080"/>
            <a:ext cx="109728" cy="1508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▸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3716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 THƯỞNG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617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hợp tín hiệu kết quả thưa (hạ kẻ địch, dọn phòng) và định hình dày (tiếp cận, căn hướng).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4069080"/>
            <a:ext cx="5623560" cy="1508760"/>
          </a:xfrm>
          <a:prstGeom prst="roundRect">
            <a:avLst>
              <a:gd name="adj" fmla="val 6061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76200" dist="25400" dir="5400000">
              <a:srgbClr val="C9C2B5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4069080"/>
            <a:ext cx="109728" cy="1508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▸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17804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TỐI ƯU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4617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Tìm chính sách πθ(a|s) tối đa hóa kỳ vọng tổng thưởng chiết khấu E[Σγᵗrₜ].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852160"/>
            <a:ext cx="112471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Lượt chơi kết thúc khi tác nhân dọn sạch kẻ địch  •  hết HP  •  hết thời gian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MỞ ĐẦU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cụ thể (MT1 – MT4)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tổng quát: xây dựng tác nhân DRL chiến đấu hiệu quả trên bản đồ sinh tự động, đạt clear_rate tail-50 ≥ 0.5 trên nhóm bản đồ Khó.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623560" cy="1645920"/>
          </a:xfrm>
          <a:prstGeom prst="roundRect">
            <a:avLst>
              <a:gd name="adj" fmla="val 6667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5146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83080" y="2487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Xây dựng RL agent dọn phòng ổn định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Đạt clear_rate tail-50 ≥ 0.5 trên nhóm bản đồ Khó và tăng kills/episode.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286000"/>
            <a:ext cx="5623560" cy="1645920"/>
          </a:xfrm>
          <a:prstGeom prst="roundRect">
            <a:avLst>
              <a:gd name="adj" fmla="val 6667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25146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0" y="2487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Giảm tác động của phần thưởng thưa &amp; bản đồ thay đổi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30632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hợp Curriculum Learning với bản đồ PCGNN, kỳ vọng cải thiện ≥ 20% so với PPO cơ sở.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5623560" cy="1645920"/>
          </a:xfrm>
          <a:prstGeom prst="roundRect">
            <a:avLst>
              <a:gd name="adj" fmla="val 6667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3434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343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83080" y="43159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Xác định kỹ thuật hỗ trợ hiệu quả nhất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8920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Trong ICM, RND, LSTM – kỹ thuật nào tạo cải thiện &gt; 20% qua thí nghiệm cô lập biến.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4114800"/>
            <a:ext cx="5623560" cy="1645920"/>
          </a:xfrm>
          <a:prstGeom prst="roundRect">
            <a:avLst>
              <a:gd name="adj" fmla="val 6667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43434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343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89520" y="43159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Khảo sát ảnh hưởng biểu diễn quan sát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0" y="48920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Bổ sung thông tin không gian (BFS, lưới cục bộ) có giúp giảm entropy &amp; tăng clear_rate?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Mỗi MT có ngưỡng định lượng riêng (≥ 0.5, +20%, ...) làm thước đo thực nghiệm cho Chương 4.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MỞ ĐẦU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câu hỏi nghiên cứu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76200" dist="25400" dir="5400000">
              <a:srgbClr val="C9C2B5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37360"/>
            <a:ext cx="164592" cy="1280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659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2331720" y="19202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Kỹ thuật nào tạo cải thiện lớn nhất?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31720" y="233172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Trong số ICM, RND, LSTM và Curriculum Learning – kỹ thuật nào tạo ra cải thiện rõ rệt nhất khi huấn luyện tác nhân chiến đấu Roguelike?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76200" dist="25400" dir="5400000">
              <a:srgbClr val="C9C2B5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154680"/>
            <a:ext cx="164592" cy="1280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832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2331720" y="333756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 hiệu ứng bổ trợ khi kết hợp CL?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31720" y="374904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Khi kết hợp Curriculum Learning với ICM/RND/LSTM, có xuất hiện tác động cộng hưởng (synergy) hay không?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76200" dist="25400" dir="5400000">
              <a:srgbClr val="C9C2B5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572000"/>
            <a:ext cx="164592" cy="1280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8006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2331720" y="475488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Biểu diễn quan sát quan trọng đến đâu?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331720" y="516636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Biểu diễn quan sát và tín hiệu điều hướng (BFS, lưới cục bộ) ảnh hưởng như thế nào đến khả năng dọn phòng của tác nhân?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Để trả lời: ma trận thí nghiệm cô lập biến gồm 9 lần chạy chính + 2 thí nghiệm mở rộng (run59 BFS, run62 lưới cục bộ).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MỞ ĐẦU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 đề xuất &amp; đóng góp chính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pháp: quy trình huấn luyện 4 thành phần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02920" cy="5029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PCGNN sinh bản đồ + BFS kiểm tra hợp lệ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502920" cy="5029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6974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loại Dễ/Trung bình/Khó + TilemapGenerator nạp Unity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502920" cy="5029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383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CombatAgent (vector 207D, action (3,3,3,9)) + PPO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502920" cy="5029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4069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Thí nghiệm mở rộng biểu diễn quan sát (run59, run62)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Đóng góp chính của khóa luận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201168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FFFFFF"/>
              <a:buChar char="●"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trình DRL hoàn chỉnh cho Roguelike trong Unity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FFFFFF"/>
              <a:buChar char="●"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Cải tiến PCGNN: BFS đặt P/E, thay chỉ số gốc bằng reachable_ratio, dead_end_ratio, difficulty_score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FFFFFF"/>
              <a:buChar char="●"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CombatAgent quan sát 207D + hành động (3,3,3,9)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FFFFFF"/>
              <a:buChar char="●"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Bằng chứng thực nghiệm: CL cải thiện reward +85% (2.073 → 3.843)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FFFFFF"/>
              <a:buChar char="●"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hiện vùng bão hòa entropy 4.40 nat &amp; nút thắt biểu diễn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6035040"/>
            <a:ext cx="11247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Run62 (lưới cục bộ + CL + ICM, 40.82M bước) đạt clear_rate 0.666 – vượt ngưỡng mục tiêu MT1 (≥ 0.5)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C9C2B5">
              <a:alpha val="25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C9C2B5">
              <a:alpha val="20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C9C2B5">
              <a:alpha val="15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6F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CƠ SỞ LÝ THUYẾT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166360" y="4846320"/>
            <a:ext cx="1828800" cy="0"/>
          </a:xfrm>
          <a:prstGeom prst="line">
            <a:avLst/>
          </a:prstGeom>
          <a:noFill/>
          <a:ln w="381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F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 · PPO · ICM/RND · LSTM · PCGNN · CL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CƠ SỞ LÝ THUYẾT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Học tăng cường (RL) &amp; Proximal Policy Optimization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MDP (S, A, P, R, γ)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Tác nhân quan sát sₜ → chọn hành động aₜ → nhận rₜ → chuyển sang sₜ₊₁. Mục tiêu: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5486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J(πθ) = 𝔼τ∼πθ [ Σₜ γᵗ rₜ ]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khó khăn điển hình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FFFFFF"/>
              <a:buChar char="•"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Khám phá ↔ khai thác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FFFFFF"/>
              <a:buChar char="•"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 thưởng trễ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FFFFFF"/>
              <a:buChar char="•"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Tương quan thời gian giữa các mẫu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 – Proximal Policy Optimization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1920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Thuật toán nền vì hỗ trợ tốt action rời rạc đa nhánh trong Unity ML-Agents, ổn định cao. Kiến trúc Actor-Critic.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2560320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560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L_CLIP = 𝔼[ min(ρₜÂₜ, clip(ρₜ, 1-ε, 1+ε) Âₜ) 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Hàm mục tiêu PPO gồm 3 thành phần: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36576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FFFFFF"/>
              <a:buChar char="•"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chính sách (policy loss)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FFFFFF"/>
              <a:buChar char="•"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giá trị (value loss)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FFFFFF"/>
              <a:buChar char="•"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Thưởng entropy – duy trì khám phá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12064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GAE – Generalized Advantage Estimation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δₜ = rₜ + γV(sₜ₊₁) – V(sₜ)        Â_t^GAE = Σ(γλ)ˡ δₜ₊ₗ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Ý nghĩa trong Roguelike: hành động có ích thường không tạo phần thưởng tức thời (tiếp cận → né → căn hướng → tấn công). GAE truyền ngược tín hiệu thành công về các bước trước, giúp PPO học chuỗi hành vi dài.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CƠ SỞ LÝ THUYẾT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 thưởng nội tại: ICM &amp; RND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623560" cy="4572000"/>
          </a:xfrm>
          <a:prstGeom prst="roundRect">
            <a:avLst>
              <a:gd name="adj" fmla="val 2400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76200" dist="25400" dir="5400000">
              <a:srgbClr val="C9C2B5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562356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ICM – Intrinsic Curiosity Module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Cơ chế: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mô hình phụ trên không gian đặc trưng φ(s):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Inverse model: dự đoán aₜ từ (φ(sₜ), φ(sₜ₊₁))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Forward model: dự đoán φ̂(sₜ₊₁) từ (φ(sₜ), aₜ)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42900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429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r_ICM = ½ ‖φ̂(sₜ₊₁) – φ(sₜ₊₁)‖²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4069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Đặc điểm: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343400"/>
            <a:ext cx="5212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FFFFFF"/>
              <a:buChar char="•"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Khuyến khích trạng thái khó dự đoán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FFFFFF"/>
              <a:buChar char="•"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Hạn chế: inverse model khó học với action đa nhánh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FFFFFF"/>
              <a:buChar char="•"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Trong run35: inverse loss ~4.36, gần entropy chính sách 4.40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1554480"/>
            <a:ext cx="5623560" cy="4572000"/>
          </a:xfrm>
          <a:prstGeom prst="roundRect">
            <a:avLst>
              <a:gd name="adj" fmla="val 2400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76200" dist="25400" dir="5400000">
              <a:srgbClr val="C9C2B5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554480"/>
            <a:ext cx="562356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55448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RND – Random Network Distillation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194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Cơ chế: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4688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mạng nơ-ron: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Mạng mục tiêu f (cố định, ngẫu nhiên)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Mạng dự đoán f̂_θ (học)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 số dự đoán = phần thưởng nội tại.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342900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429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r_RND = ‖f̂_θ(sₜ) – f(sₜ)‖²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4069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Đặc điểm: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4343400"/>
            <a:ext cx="5212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FFFFFF"/>
              <a:buChar char="•"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phụ thuộc action ⇒ tránh nhược điểm của ICM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FFFFFF"/>
              <a:buChar char="•"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Thưởng cho mới lạ nhưng không gắn với chiến đấu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FFFFFF"/>
              <a:buChar char="•"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 thể khám phá góc phòng thay vì học tiếp cận địch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sánh trực tiếp ICM vs RND qua thí nghiệm cô lập biến (run35 vs run36).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CƠ SỞ LÝ THUYẾT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nhớ LSTM &amp; Curriculum Learning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623560" cy="4572000"/>
          </a:xfrm>
          <a:prstGeom prst="roundRect">
            <a:avLst>
              <a:gd name="adj" fmla="val 2400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Bộ nhớ LSTM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Short-Term Memory duy trì trạng thái ẩn hₜ và cell cₜ qua các bước thời gian thông qua cơ chế cổng (forget – input – output).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 trò trong đề tài: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429000"/>
            <a:ext cx="5212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FFFFFF"/>
              <a:buChar char="•"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Tích lũy thông tin lịch sử (đạn, hồi chiêu, khuất tầm nhìn)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FFFFFF"/>
              <a:buChar char="•"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size = 256, sequence length = 64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FFFFFF"/>
              <a:buChar char="•"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Hạn chế: học chậm, chi phí tính toán cao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FFFFFF"/>
              <a:buChar char="•"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 thể không hữu ích nếu quan sát đã đủ thông tin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623560" cy="4572000"/>
          </a:xfrm>
          <a:prstGeom prst="roundRect">
            <a:avLst>
              <a:gd name="adj" fmla="val 2400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916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Curriculum Learning (CL)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1945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 chức quá trình học từ Dễ → Trung bình → Khó. Điều kiện chuyển mức dùng trung bình trượt EMA của phần thưởng.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3063240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063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Ḡₜ = (1-α) Ḡₜ₋₁ + α Gₜ      Khi Ḡₜ ≥ θₗ ⇒ tăng difficulty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3657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 trò: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92240" y="397764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FFFFFF"/>
              <a:buChar char="•"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Giảm độ khó khám phá ban đầu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FFFFFF"/>
              <a:buChar char="•"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 đồ Dễ ⇒ tác nhân thường xuyên hoàn thành ⇒ tín hiệu học sớm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FFFFFF"/>
              <a:buChar char="•"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Truyền tham số difficulty qua ML-Agents Academy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FFFFFF"/>
              <a:buChar char="•"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Hạn chế: ngưỡng θₗ phải chỉnh tay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Đây là kỹ thuật quan trọng nhất – sẽ thấy ở Chương 4: CL → +85% reward so với PPO cơ sở.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CƠ SỞ LÝ THUYẾT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PCGNN – Sinh bản đồ bằng NEAT + Novelty Search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PCGNN tiến hóa một mạng nơ-ron fθ để sinh bản đồ theo từng ô: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2011680"/>
            <a:ext cx="57607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201168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t_{i,j} = argmax fθ ( C(i,j), z 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C(i,j): ngữ cảnh lân cận 3×3      •      z: nhiễu ngẫu nhiên để đa dạng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  PCGNN gốc hướng tới bài toán mê cung → cần 3 điều chỉnh cho Roguelike chiến đấu: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22192"/>
            <a:ext cx="502920" cy="5029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hậu xử lý đặt P/E + BFS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0873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Đặt vị trí tác nhân (P) và kẻ địch (E) trên cùng thành phần liên thông, BFS xác nhận đường đi tồn tại.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690872"/>
            <a:ext cx="502920" cy="5029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6177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Thay nhóm chỉ số gốc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95604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Bỏ leniency, A* diff, compression distance. Dùng reachable_ratio, dead_end_ratio, difficulty_score.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44068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5559552"/>
            <a:ext cx="502920" cy="5029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559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54864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Tách generator ngoại tuyến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58247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Sinh + kiểm tra trước khi đưa vào Unity ⇒ ổn định huấn luyện, người thiết kế chọn lại bản đồ.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C9C2B5">
              <a:alpha val="25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C9C2B5">
              <a:alpha val="20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C9C2B5">
              <a:alpha val="15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6F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HỆ THỐNG TÁC NHÂN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166360" y="4846320"/>
            <a:ext cx="1828800" cy="0"/>
          </a:xfrm>
          <a:prstGeom prst="line">
            <a:avLst/>
          </a:prstGeom>
          <a:noFill/>
          <a:ln w="381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F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POMDP · Quan sát · Hành động · Phần thưởng · PCGNN · CL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THIẾT KẾ HỆ THỐNG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 quan quy trình huấn luyện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Sáu khối thiết kế ⇄ thách thức ⇄ mục tiêu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PCGNN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sinh bản đồ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30552" y="2103120"/>
            <a:ext cx="201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5E5A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313432" y="21031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13432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 + chỉ số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13432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tra hợp lệ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86784" y="2103120"/>
            <a:ext cx="201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5E5A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169664" y="21031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9664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loại độ khó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69664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Dễ / TB / Khó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43016" y="2103120"/>
            <a:ext cx="201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5E5A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25896" y="21031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25896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TilemapGen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25896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nạp bản đồ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99248" y="2103120"/>
            <a:ext cx="201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5E5A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882128" y="21031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82128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CombatAgent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882128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 sát + hành động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555480" y="2103120"/>
            <a:ext cx="201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5E5A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738360" y="21031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38360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38360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cập nhật chính sách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32918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Vòng lặp lượt chơi  ⇄  PPO cập nhật chính sách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3749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Ánh xạ khối thiết kế ↔ Mục tiêu MT1–MT4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21031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D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Khối thiết kế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D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Thách thức giải quyết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D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 sát 207D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Mô tả tình huống chiến đấu giàu nhưng gọn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MT1, MT4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Hành động (3,3,3,9)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Phối hợp đồng thời di chuyển – ngắm – chiến đấu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Hàm thưởng v1/v2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Hướng dẫn học sớm khi tín hiệu kết quả còn thưa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PCGNN + BFS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Phân phối bản đồ thay đổi mỗi lượt chơi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Curriculum Learning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Phần thưởng thưa thớt và trễ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PPO Actor-Critic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Cập nhật ổn định trên hành động đa nhánh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MT1, MT3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THIẾT KẾ HỆ THỐNG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gian quan sát: vector 207 chiều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 sát vector (không phải ảnh pixel) ⇒ giảm chi phí mẫu, tách rõ thông tin chiến đấu.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40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chiều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Trạng thái tác nhân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Máu, đạn, hồi chiêu, vũ khí, tốc độ, sát thương gần đây, hướng vận tốc.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15768" y="205740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5768" y="2240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2715768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chiều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07208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Thông tin toàn cục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07208" y="3703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Tỷ lệ kẻ địch / đạn nhìn thấy, thời gian lượt chơi.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74336" y="205740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4336" y="2240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4974336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chiều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65776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Kẻ địch (3 × 18)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65776" y="3703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Vị trí, vận tốc tương đối, khoảng cách, máu, mức đe dọa, hồi chiêu.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32904" y="205740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32904" y="2240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7232904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chiều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24344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Đạn (10 × 12)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24344" y="3703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Vị trí, vận tốc, khoảng cách, thời gian va chạm, loại chủ sở hữu.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91472" y="205740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91472" y="2240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5600" dirty="0"/>
          </a:p>
        </p:txBody>
      </p:sp>
      <p:sp>
        <p:nvSpPr>
          <p:cNvPr id="29" name="Text 27"/>
          <p:cNvSpPr/>
          <p:nvPr/>
        </p:nvSpPr>
        <p:spPr>
          <a:xfrm>
            <a:off x="9491472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chiều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582912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Tường (16 tia ray)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582912" y="3703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tia đều quanh tác nhân, khoảng cách chuẩn hóa tới tường gần nhất.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4709160"/>
            <a:ext cx="112471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7091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Tổng:  13  +  4  +  54  +  120  +  16  =  207 chiều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57200" y="5532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nguồn quan sát một phần (POMDP)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589788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Tầm nhìn hữu hạn (VisionRadius = 20)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89788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1B2D4E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Tầm nhìn hữu hạn (VisionRadius = 20)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97680" y="589788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2976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Đường ngắm bị tường chắn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97680" y="589788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1B2D4E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Đường ngắm bị tường chắn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138160" y="589788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3816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13816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Dung lượng hữu hạn vector (MaxEnemies=3, MaxBullets=10)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138160" y="589788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1B2D4E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3816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Dung lượng hữu hạn vector (MaxEnemies=3, MaxBullets=10)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THIẾT KẾ HỆ THỐNG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gian hành động đa nhánh (3, 3, 3, 9)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Tại mỗi bước, tác nhân phải đồng thời quyết định: đi đâu, có tấn công/lướt không, ngắm hướng nào?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03120"/>
            <a:ext cx="269748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214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Nhánh 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moveX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94460" y="2743200"/>
            <a:ext cx="822960" cy="822960"/>
          </a:xfrm>
          <a:prstGeom prst="ellipse">
            <a:avLst/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94460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94360" y="36576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trái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phải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210312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2103120"/>
            <a:ext cx="269748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1214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Nhánh 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2286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274820" y="2743200"/>
            <a:ext cx="822960" cy="822960"/>
          </a:xfrm>
          <a:prstGeom prst="ellipse">
            <a:avLst/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4820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474720" y="36576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xuống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lên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10312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103120"/>
            <a:ext cx="269748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1214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Nhánh 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17920" y="2286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combat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155180" y="2743200"/>
            <a:ext cx="822960" cy="822960"/>
          </a:xfrm>
          <a:prstGeom prst="ellipse">
            <a:avLst/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5180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355080" y="36576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tấn công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lướt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98280" y="210312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98280" y="2103120"/>
            <a:ext cx="269748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280" y="21214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Nhánh 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098280" y="2286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035540" y="2743200"/>
            <a:ext cx="822960" cy="822960"/>
          </a:xfrm>
          <a:prstGeom prst="ellipse">
            <a:avLst/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35540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9235440" y="36576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giữ hướng + 8 hướng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663440"/>
            <a:ext cx="112471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3 × 3 × 9 = 243 tổ hợp hành động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57200" y="51663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Hₘₐₓ = ln(3) + ln(3) + ln(3) + ln(9) ≈ 5.49 nat   ←   mốc tham chiếu cho phân tích entropy ở Chương 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  Cơ chế lọc hành động hợp lệ (action masking): tấn công/lướt bị che khi vũ khí/kỹ năng chưa sẵn sàng.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  Tách 4 nhánh giúp PPO học từng quyết định độc lập, thay vì 243 softmax phẳng.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THIẾT KẾ HỆ THỐNG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Hàm phần thưởng: hai phiên bản v1 &amp; v2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hợp tín hiệu KẾT QUẢ THƯA (hạ địch, dọn phòng) + ĐỊNH HÌNH DÀY (tiếp cận, căn hướng).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463040"/>
                <a:gridCol w="1463040"/>
                <a:gridCol w="51206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D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Sự kiện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D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D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D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Vai trò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Gây sát thương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+1.0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+1.5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Khuyến khích gây sát thương thay vì chỉ né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Hạ một kẻ địch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+3.0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+5.0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Tín hiệu kết quả thưa nhưng có ý nghĩa chiến thuật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Dọn sạch phòng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+5.0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+10.0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Mục tiêu cuối – v2 tăng mạnh tín hiệu hoàn thành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Tiếp cận mục tiêu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+0.008·Δd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+0.003·Δd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Định hình – v2 giảm để tránh chỉ tối ưu tiếp cận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Tấn công đúng hướng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+0.05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+0.15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Tăng phần thưởng cho ý định tấn công có căn chỉnh tốt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Đứng gần địch không hành động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-0.0005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-0.002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Phạt hành vi chần chừ – v2 phạt mạnh hơn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Tác nhân chết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-2.0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-2.0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Tín hiệu kết thúc âm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0292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120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v1 (run34–run54)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544068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Tỷ lệ định hình cao hơn. Dùng cho 8 trong 9 thí nghiệm cô lập biến chính.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50292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5120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v2 (run55)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544068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Tăng thưởng kết quả + phạt chần chừ mạnh hơn. Thang khác ⇒ không so trực tiếp với v1.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THIẾT KẾ HỆ THỐNG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Sinh bản đồ PCGNN &amp; phân loại độ khó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thức difficulty_score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difficulty_score = 0.90 × wall_ratio + 0.05 × min(path_norm, 1.0) + 0.03 × dead_end_ratio + 0.02 × astar_difficulty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bố bản đồ đưa vào Unity (60 bản đồ tuyển chọn)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  <a:effectLst>
            <a:outerShdw sx="100000" sy="100000" kx="0" ky="0" algn="bl" rotWithShape="0" blurRad="76200" dist="25400" dir="5400000">
              <a:srgbClr val="C9C2B5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154680"/>
            <a:ext cx="361188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546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 đồ • 8.33%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5262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Tạo tín hiệu học ban đầu (0 – 70k bước)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31546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  <a:effectLst>
            <a:outerShdw sx="100000" sy="100000" kx="0" ky="0" algn="bl" rotWithShape="0" blurRad="76200" dist="25400" dir="5400000">
              <a:srgbClr val="C9C2B5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1960" y="3154680"/>
            <a:ext cx="361188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31546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TRUNG BÌNH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51960" y="36118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251960" y="4206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 đồ • 8.33%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45262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trung gian (70k – 140k bước)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31546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  <a:effectLst>
            <a:outerShdw sx="100000" sy="100000" kx="0" ky="0" algn="bl" rotWithShape="0" blurRad="76200" dist="25400" dir="5400000">
              <a:srgbClr val="C9C2B5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0" y="3154680"/>
            <a:ext cx="361188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31546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0" y="36118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8046720" y="4206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 đồ • 83.33%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83880" y="45262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phối mục tiêu chiếm &gt; 95% thời gian huấn luyện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5166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Lộ trình CL: 4 mức độ khó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5778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577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Dễ (cố định)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8892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5E5A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246120" y="55778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5577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Trung bình (cố định)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7784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5E5A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035040" y="55778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5577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 (cố định)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6676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5E5A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823960" y="55778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23960" y="5577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 (ngẫu nhiên)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Difficulty: 0 → 1 → 2 → 3        (chuyển khi EMA reward vượt ngưỡng θₗ)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THIẾT KẾ HỆ THỐNG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Actor-Critic &amp; cấu hình PPO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actor-critic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945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 sát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207 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783080" y="2194560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21945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08960" y="2194560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945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508760" y="21945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5E5A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34640" y="21945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5E5A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97680" y="219456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5E5A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17720" y="178308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7830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(3,3,3,9)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274320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7432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V(s)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29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2 lớp 256 đơn vị • normalize=true • lựa chọn LSTM tùy chọn (memory=256, seq=64)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Siêu tham số PPO chính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965960"/>
          <a:ext cx="53035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D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Tham số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D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Giá trị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learning_rate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× 10⁻⁴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batch_size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buffer_size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10240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num_epoch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γ (gamma)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λ (GAE)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ε (clip)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β (entropy coef)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 × 10⁻³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57200" y="530352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1B2D4E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Nguyên tắc cô lập biến (ablation)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080" y="5760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Giữ nguyên MLP 256×2 và toàn bộ siêu tham số PPO giữa các lần chạy run34–run54. Chỉ thay đổi đúng MỘT biến (CL / ICM / RND / LSTM / hàm thưởng). Tránh quy nhầm chênh lệch cho kỹ thuật được kiểm tra trong khi nguyên nhân thực sự nằm ở siêu tham số.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C9C2B5">
              <a:alpha val="25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C9C2B5">
              <a:alpha val="20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C9C2B5">
              <a:alpha val="15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6F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CÀI ĐẶT &amp; THỰC NGHIỆM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166360" y="4846320"/>
            <a:ext cx="1828800" cy="0"/>
          </a:xfrm>
          <a:prstGeom prst="line">
            <a:avLst/>
          </a:prstGeom>
          <a:noFill/>
          <a:ln w="381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F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Môi trường phát triển và ma trận 9 lần chạy cô lập biến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CÀI ĐẶT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Môi trường phát triển &amp; huấn luyện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standalone + chế độ no-graphics + nhiều môi trường song song ⇒ giảm nhiễu, tăng tốc thu thập mẫu.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76200" dist="25400" dir="5400000">
              <a:srgbClr val="C9C2B5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109728" cy="1280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ENGINE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Editor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6000.1.3f1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210312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76200" dist="25400" dir="5400000">
              <a:srgbClr val="C9C2B5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2103120"/>
            <a:ext cx="109728" cy="1280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GAMEPLAY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TopDown Engine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v4.4 (demo Koala2D)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210312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76200" dist="25400" dir="5400000">
              <a:srgbClr val="C9C2B5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2103120"/>
            <a:ext cx="109728" cy="1280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 TOOLKIT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ML-Agents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1248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trainer, PPO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76200" dist="25400" dir="5400000">
              <a:srgbClr val="C9C2B5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566160"/>
            <a:ext cx="109728" cy="1280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ML-AGENTS PACKAGE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v4.0.3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152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com.unity.ml-agents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97680" y="356616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76200" dist="25400" dir="5400000">
              <a:srgbClr val="C9C2B5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97680" y="3566160"/>
            <a:ext cx="109728" cy="1280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RTX 3050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57200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GB VRAM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356616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76200" dist="25400" dir="5400000">
              <a:srgbClr val="C9C2B5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38160" y="3566160"/>
            <a:ext cx="109728" cy="1280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SONG SONG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1248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envs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41248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(có run dùng 16)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516636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257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mô huấn luyện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" y="5577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 M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640080" y="6080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cho mỗi run dùng CL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5577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 M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4114800" y="6080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cho run không dùng CL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0" y="5577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40.82 M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7772400" y="6080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cho run62 (cấu hình mở rộng)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THỰC NGHIỆM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 trận thí nghiệm cô lập biến (9 + 2 runs)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Mỗi run thay đổi đúng một biến so với cấu hình cơ sở run34 ⇒ cô lập tác động từng kỹ thuật.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471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023360"/>
                <a:gridCol w="457200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D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D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Thay đổi so với cơ sở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D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Vai trò phân tích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D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run34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PPO cơ sở (207D, không CL)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Mốc so sánh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run35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ICM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Đánh giá ICM trong khám phá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run36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RND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Đánh giá RND trong khám phá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run42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LSTM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Đánh giá vai trò bộ nhớ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run46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CL (3 mức)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★ Đánh giá Curriculum Learning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run47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CL + LSTM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Đánh giá bổ trợ LSTM với CL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run50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CL + ICM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Đánh giá bổ trợ ICM với CL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run54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CL 4 bậc (Khó ngẫu nhiên)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Ảnh hưởng chiến lược vị trí sinh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run55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CL + hàm thưởng v2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Đánh giá thang thưởng mới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run59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 sát 210D + tín hiệu BFS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◆ Mở rộng: nút thắt biểu diễn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run62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Lưới cục bộ 15×15 (432D), 40.82M bước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◆ Mở rộng: lưới không gian cục bộ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 Nhóm không CL    ● Nhóm có CL    ● Cấu hình mở rộng (run59/run62)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C9C2B5">
              <a:alpha val="25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C9C2B5">
              <a:alpha val="20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C9C2B5">
              <a:alpha val="15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6F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&amp; ĐÁNH GIÁ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166360" y="4846320"/>
            <a:ext cx="1828800" cy="0"/>
          </a:xfrm>
          <a:prstGeom prst="line">
            <a:avLst/>
          </a:prstGeom>
          <a:noFill/>
          <a:ln w="381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F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 trò CL · Khám phá · Vùng bão hòa entropy · run59/run62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KẾT QUẢ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Khám phá (ICM/RND) &amp; bộ nhớ (LSTM) – cải thiện nhẹ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5448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498080" y="1554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hiện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98080" y="1965960"/>
            <a:ext cx="4297680" cy="822960"/>
          </a:xfrm>
          <a:prstGeom prst="roundRect">
            <a:avLst>
              <a:gd name="adj" fmla="val 8889"/>
            </a:avLst>
          </a:prstGeom>
          <a:solidFill>
            <a:srgbClr val="1B2D4E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89520" y="205740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0" y="2057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03920" y="20391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Inverse loss ~4.36 nat, vẫn gần entropy chính sách 4.40. Học biểu diễn chưa đủ mạnh.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98080" y="2880360"/>
            <a:ext cx="4297680" cy="822960"/>
          </a:xfrm>
          <a:prstGeom prst="roundRect">
            <a:avLst>
              <a:gd name="adj" fmla="val 8889"/>
            </a:avLst>
          </a:prstGeom>
          <a:solidFill>
            <a:srgbClr val="1B2D4E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9520" y="297180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0" y="2971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503920" y="29535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Cải thiện nhẹ hơn ICM. Phần thưởng nội tại giảm nhanh khi mô hình quen.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98080" y="3794760"/>
            <a:ext cx="4297680" cy="822960"/>
          </a:xfrm>
          <a:prstGeom prst="roundRect">
            <a:avLst>
              <a:gd name="adj" fmla="val 8889"/>
            </a:avLst>
          </a:prstGeom>
          <a:solidFill>
            <a:srgbClr val="1B2D4E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89520" y="388620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0" y="3886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503920" y="38679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Học chậm hơn nhưng tăng dần (1.64 → 2.71 ở 1M bước). Lợi ích chưa rõ.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4937760"/>
            <a:ext cx="112471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  Kết luận nhóm thí nghiệm khám phá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0080" y="53949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 ICM, RND và LSTM chạy độc lập đều chỉ cải thiện reward dưới ngưỡng đáng kể (&lt; 20%). Khó khăn chính của môi trường KHÔNG chỉ ở thiếu tín hiệu khám phá – mà còn ở độ khó ban đầu của bản đồ và nhiệm vụ chiến đấu phức tạp. Phải kết hợp với Curriculum Learning để thấy hiệu quả rõ rệt.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KẾT QUẢ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Curriculum Learning – cải thiện rõ nhất (+85% reward)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9377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RUN46  •  PPO + CL (3 mức)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+85%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 thưởng tăng từ 2.073 → 3.843 trên nhóm bản đồ Khó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F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với PPO cơ sở (run34)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5544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Chỉ số hành vi run46 (tail-50)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1965960"/>
            <a:ext cx="2880360" cy="1143000"/>
          </a:xfrm>
          <a:prstGeom prst="roundRect">
            <a:avLst>
              <a:gd name="adj" fmla="val 8000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101600" dist="25400" dir="5400000">
              <a:srgbClr val="C9C2B5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1965960"/>
            <a:ext cx="91440" cy="1143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057400"/>
            <a:ext cx="25603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3.843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897880" y="259461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trung bình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32520" y="196596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101600" dist="25400" dir="5400000">
              <a:srgbClr val="C9C2B5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32520" y="1965960"/>
            <a:ext cx="91440" cy="1143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2057400"/>
            <a:ext cx="26517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0.267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961120" y="259461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rate tail-50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3200400"/>
            <a:ext cx="2880360" cy="1143000"/>
          </a:xfrm>
          <a:prstGeom prst="roundRect">
            <a:avLst>
              <a:gd name="adj" fmla="val 8000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101600" dist="25400" dir="5400000">
              <a:srgbClr val="C9C2B5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3200400"/>
            <a:ext cx="91440" cy="1143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3291840"/>
            <a:ext cx="25603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897880" y="382905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Kills / episode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32520" y="320040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101600" dist="25400" dir="5400000">
              <a:srgbClr val="C9C2B5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32520" y="3200400"/>
            <a:ext cx="91440" cy="1143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0" y="3291840"/>
            <a:ext cx="26517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0.245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961120" y="382905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Useful dash rate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5262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Diễn biến chuyển mức độ khó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8920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502920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444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Mức DỄ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34440" y="5166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6.364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17520" y="5029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– 70k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114800" y="49377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5E5A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80560" y="502920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Mức TRUNG BÌNH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5166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4.181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20840" y="5029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70k – 140k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818120" y="49377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5E5A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83880" y="502920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4108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Mức KHÓ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641080" y="5166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3.843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424160" y="5029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140k – 3M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5650992"/>
            <a:ext cx="11247120" cy="841248"/>
          </a:xfrm>
          <a:prstGeom prst="roundRect">
            <a:avLst>
              <a:gd name="adj" fmla="val 10870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56875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Cơ chế: ở mức Dễ, tác nhân thường xuyên hoàn thành phòng -&gt; học chuỗi tiếp cận – ngắm – tấn công. Khi sang Trung bình &amp; Khó, chính sách đã có kỹ năng cơ bản thay vì khám phá từ ngẫu nhiên.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KẾT QUẢ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hợp CL với LSTM và ICM (Q2: bổ trợ?)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5448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132320" y="1554480"/>
            <a:ext cx="4663440" cy="1920240"/>
          </a:xfrm>
          <a:prstGeom prst="roundRect">
            <a:avLst>
              <a:gd name="adj" fmla="val 5714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 + LSTM (run47)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0" y="20574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3.765 ≈ run46 (3.843). LSTM KHÔNG tạo bổ trợ rõ với CL.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0" y="26974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Policy loss = 0.079 (gấp 5× run46) ⇒ LSTM cần nhiều mẫu hơn để ổn định.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32320" y="3611880"/>
            <a:ext cx="4663440" cy="1874520"/>
          </a:xfrm>
          <a:prstGeom prst="roundRect">
            <a:avLst>
              <a:gd name="adj" fmla="val 5854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0" y="37490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 + ICM (run50)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0" y="41148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4.369 &gt; run46 (+13.7%). Kills/ep = 1.016, Clear = 0.273. ICM CÓ bổ trợ nhẹ khi CL đã tạo nền học.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0" y="50292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ICM inverse loss 4.337 vẫn gần vùng entropy ⇒ chưa giải triệt để vấn đề biểu diễn.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5669280"/>
            <a:ext cx="112471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57150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Trả lời Q2:  CL là yếu tố nền quan trọng nhất. ICM tạo thêm lợi ích nhẹ khi đã có CL; LSTM chưa thấy bổ trợ rõ trong ngân sách huấn luyện hiện tại.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KẾT QUẢ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Hiện tượng bão hòa entropy ở mức 4.40 nat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5448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046720" y="15544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101600" dist="25400" dir="5400000">
              <a:srgbClr val="C9C2B5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0" y="1554480"/>
            <a:ext cx="91440" cy="1280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75320" y="1645920"/>
            <a:ext cx="3520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5.49 nat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275320" y="225856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Hₘₐₓ lý thuyết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46720" y="29260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101600" dist="25400" dir="5400000">
              <a:srgbClr val="C9C2B5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46720" y="2926080"/>
            <a:ext cx="91440" cy="1280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75320" y="3017520"/>
            <a:ext cx="3520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4.40 nat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275320" y="363016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Vùng bão hòa quan sát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46720" y="42976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101600" dist="25400" dir="5400000">
              <a:srgbClr val="C9C2B5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046720" y="4297680"/>
            <a:ext cx="91440" cy="1280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75320" y="4389120"/>
            <a:ext cx="3520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3.05 nat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8275320" y="500176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run62 – vượt vùng bão hòa!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85216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Vùng bão hòa 4.40 nat KHÔNG được giải bởi ICM, RND, LSTM, CL hay hàm thưởng v2 (quan sát 207D, 1-3M bước). Khi run62 thay quan sát thành lưới 15×15 (432D) + 40.82M bước, entropy giảm bền vững xuống 3.048 nat – chứng tỏ nút thắt là biểu diễn không gian.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KẾT QUẢ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Run59 – Bổ sung tín hiệu dẫn đường BFS (210D)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Thí nghiệm mở rộng: thêm 3 chiều BFS vào quan sát.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029200" cy="2194560"/>
          </a:xfrm>
          <a:prstGeom prst="roundRect">
            <a:avLst>
              <a:gd name="adj" fmla="val 5000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Tín hiệu BFS bổ sung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FFFFFF"/>
              <a:buChar char="•"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bước kế tiếp trên đường đi ngắn nhất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FFFFFF"/>
              <a:buChar char="•"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Khoảng cách đường đi (chuẩn hóa) tới kẻ địch sống gần nhất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FFFFFF"/>
              <a:buChar char="•"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Thông tin hỗ trợ tiếp cận mục tiêu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  Không phải RL thuần – là phép can thiệp có chủ đích vào kênh quan sát để kiểm tra nút thắt.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20116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vùng cuối quá trình huấn luyện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242316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101600" dist="25400" dir="5400000">
              <a:srgbClr val="C9C2B5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2423160"/>
            <a:ext cx="91440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14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897880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rate (tail)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78240" y="242316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101600" dist="25400" dir="5400000">
              <a:srgbClr val="C9C2B5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78240" y="2423160"/>
            <a:ext cx="91440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2514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1.78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006840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Kills / episode (tail)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342900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101600" dist="25400" dir="5400000">
              <a:srgbClr val="C9C2B5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3429000"/>
            <a:ext cx="91440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3520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14.77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897880" y="3931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(tail)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78240" y="342900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101600" dist="25400" dir="5400000">
              <a:srgbClr val="C9C2B5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78240" y="3429000"/>
            <a:ext cx="91440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06840" y="3520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3.62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9006840" y="3931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Entropy (nat) – giảm sâu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21208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 Trả lời Q3 – Biểu diễn quan sát là một nút thắt thực tế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56692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rate tăng từ 0.267 (run46) → 0.846. Entropy thoát khỏi vùng bão hòa 4.40 → 3.62. Cải thiện lớn nhất trong toàn bộ thử nghiệm. ⇒ Nút thắt KHÔNG chỉ ở PPO hay khám phá, mà còn ở biểu diễn không gian.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KẾT QUẢ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Run62 – Lưới không gian cục bộ 15×15 (432D, 40.82M bước)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  Cấu hình mở rộng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FFFFFF"/>
              <a:buChar char="•"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 sát: lưới cục bộ 15×15 → 432 chiều (thay 207)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FFFFFF"/>
              <a:buChar char="•"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 4 bậc + ICM (hệ số 0.001)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FFFFFF"/>
              <a:buChar char="•"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aggressive_seek: kẻ địch truy đuổi chủ động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FFFFFF"/>
              <a:buChar char="•"/>
            </a:pPr>
            <a:r>
              <a:rPr lang="en-US" sz="1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môi trường song song × 2 phiên = 40.82M bước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52160" y="15544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tail-50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196596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101600" dist="25400" dir="5400000">
              <a:srgbClr val="C9C2B5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52160" y="1965960"/>
            <a:ext cx="91440" cy="8686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2057400"/>
            <a:ext cx="25146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080760" y="244373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rate ✓ MT1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9680" y="196596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101600" dist="25400" dir="5400000">
              <a:srgbClr val="C9C2B5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0" y="1965960"/>
            <a:ext cx="91440" cy="8686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2057400"/>
            <a:ext cx="25146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14.913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098280" y="244373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(max 19.695)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297180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101600" dist="25400" dir="5400000">
              <a:srgbClr val="C9C2B5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2971800"/>
            <a:ext cx="91440" cy="8686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3063240"/>
            <a:ext cx="25146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1.582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080760" y="344957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Kills / episode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69680" y="297180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101600" dist="25400" dir="5400000">
              <a:srgbClr val="C9C2B5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69680" y="2971800"/>
            <a:ext cx="91440" cy="8686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98280" y="3063240"/>
            <a:ext cx="25146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3.048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9098280" y="344957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Entropy nat (-1.35 vs cũ)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023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sánh clear rate qua các cấu hình</a:t>
            </a:r>
            <a:endParaRPr lang="en-US" sz="13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457200" y="4389120"/>
          <a:ext cx="112471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Run62 thu hẹp 69% khoảng cách tới run59 mà KHÔNG nhận trực tiếp hướng đi tối ưu. Vùng bão hòa entropy không phải giới hạn cứng – nó phụ thuộc biểu diễn + quy mô huấn luyện.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KẾT QUẢ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Bảng tổng hợp các cấu hình thí nghiệm chính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3200400"/>
                <a:gridCol w="1097280"/>
                <a:gridCol w="1463040"/>
                <a:gridCol w="1325880"/>
                <a:gridCol w="1371600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D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D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Thiết lập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D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Bước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D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Reward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D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Kills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D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Clear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D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Ent.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F5E5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run34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PPO cơ sở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2.073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0.721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0.129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4.408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F5E5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run35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PPO + ICM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2.416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0.752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0.173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4.407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F5E5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run36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PPO + RND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2.487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0.796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0.159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4.406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F5E5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run42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PPO + LSTM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2.411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0.769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0.163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4.405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run46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PPO + CL ★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3.843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0.994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0.267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4.409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F5E5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run47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 + LSTM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3.765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0.921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0.241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4.405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run50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 + ICM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4.369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1.016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0.273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4.411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F5E5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run54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 4 bậc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3.925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0.945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0.242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4.407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F5E5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run55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 + reward v2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9.337¹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1.014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0.267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4.408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run62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Lưới cục bộ + CL + ICM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40.8M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14.913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1.582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0.666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3.048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D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4406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¹ Reward v2 dùng thang khác, không so trực tiếp với v1.    ★ Cấu hình so sánh chính.    ◉ run62 dùng quan sát 432D.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5806440"/>
            <a:ext cx="112471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58064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Run62 vượt ngưỡng MT1 (clear ≥ 0.5)  •  CL = cải tiến lớn nhất trong nhóm 9 ablation  •  Biểu diễn quan sát = nút thắt tiếp theo cần giải quyết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C9C2B5">
              <a:alpha val="25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C9C2B5">
              <a:alpha val="20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C9C2B5">
              <a:alpha val="15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6F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 &amp; HƯỚNG PHÁT TRIỂN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166360" y="4846320"/>
            <a:ext cx="1828800" cy="0"/>
          </a:xfrm>
          <a:prstGeom prst="line">
            <a:avLst/>
          </a:prstGeom>
          <a:noFill/>
          <a:ln w="381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F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Đối chiếu mục tiêu · Đóng góp · Hạn chế · Future work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KẾT LUẬN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Đối chiếu kết quả với mục tiêu MT1 – MT4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623560" cy="1965960"/>
          </a:xfrm>
          <a:prstGeom prst="roundRect">
            <a:avLst>
              <a:gd name="adj" fmla="val 5581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  <a:effectLst>
            <a:outerShdw sx="100000" sy="100000" kx="0" ky="0" algn="bl" rotWithShape="0" blurRad="76200" dist="25400" dir="5400000">
              <a:srgbClr val="C9C2B5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96596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830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ĐẠT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 agent dọn phòng ổn định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Run62 đạt clear_rate tail-50 = 0.666 &gt; ngưỡng mục tiêu 0.5 trên tập bản đồ thực nghiệm.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623560" cy="1965960"/>
          </a:xfrm>
          <a:prstGeom prst="roundRect">
            <a:avLst>
              <a:gd name="adj" fmla="val 5581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  <a:effectLst>
            <a:outerShdw sx="100000" sy="100000" kx="0" ky="0" algn="bl" rotWithShape="0" blurRad="76200" dist="25400" dir="5400000">
              <a:srgbClr val="C9C2B5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37960" y="196596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ĐẠT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2514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Giảm tác động phần thưởng thưa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2926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 tăng reward +85% (2.073 → 3.843), vượt xa ngưỡng 20%.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5623560" cy="1965960"/>
          </a:xfrm>
          <a:prstGeom prst="roundRect">
            <a:avLst>
              <a:gd name="adj" fmla="val 5581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  <a:effectLst>
            <a:outerShdw sx="100000" sy="100000" kx="0" ky="0" algn="bl" rotWithShape="0" blurRad="76200" dist="25400" dir="5400000">
              <a:srgbClr val="C9C2B5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1148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8308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△ MỘT PHẦN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6634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Kỹ thuật ICM/RND/LSTM hiệu quả nhất?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50749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ICM, RND, LSTM chạy độc lập chỉ cải thiện &lt; 20%. Chỉ ICM + CL có bổ trợ nhẹ.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3840480"/>
            <a:ext cx="5623560" cy="1965960"/>
          </a:xfrm>
          <a:prstGeom prst="roundRect">
            <a:avLst>
              <a:gd name="adj" fmla="val 5581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  <a:effectLst>
            <a:outerShdw sx="100000" sy="100000" kx="0" ky="0" algn="bl" rotWithShape="0" blurRad="76200" dist="25400" dir="5400000">
              <a:srgbClr val="C9C2B5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37960" y="41148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8952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KHẲNG ĐỊNH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37960" y="46634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 trò biểu diễn quan sát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0" y="50749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Run59 (BFS) và run62 (lưới cục bộ) cho thấy biểu diễn không gian là nút thắt quan trọng.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 Tác nhân học được hành vi chiến đấu cơ bản; cải thiện rõ khi tổ chức theo độ khó hoặc khi quan sát giàu thông tin không gian hơn.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KẾT LUẬN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Đóng góp chính &amp; hạn chế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623560" cy="4892040"/>
          </a:xfrm>
          <a:prstGeom prst="roundRect">
            <a:avLst>
              <a:gd name="adj" fmla="val 2243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 Đóng góp chính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411480" cy="4114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trình DRL hoàn chỉnh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606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 sinh bản đồ PCGNN → kiểm tra BFS → CL → huấn luyện CombatAgent bằng PPO trong Unity.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411480" cy="4114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Cải tiến PCGNN cho chiến đấu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657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hậu xử lý đặt P/E, kiểm tra BFS, chỉ số mới reachable_ratio / dead_end_ratio / difficulty_score.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411480" cy="4114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343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CombatAgent đa nhánh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7091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 sát 207 chiều + hành động (3,3,3,9) cho phối hợp di chuyển – ngắm – tấn công – lướt.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440680"/>
            <a:ext cx="411480" cy="4114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5394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Bằng chứng thực nghiệm về CL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5760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 là kỹ thuật hiệu quả nhất; phát hiện vùng bão hòa entropy 4.40 nat và nút thắt biểu diễn không gian.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5623560" cy="4892040"/>
          </a:xfrm>
          <a:prstGeom prst="roundRect">
            <a:avLst>
              <a:gd name="adj" fmla="val 2243"/>
            </a:avLst>
          </a:prstGeom>
          <a:solidFill>
            <a:srgbClr val="1B2D4E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16916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  Hạn chế cần lưu ý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46520" y="2286000"/>
            <a:ext cx="411480" cy="4114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9516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Độ tin cậy thống kê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5160" y="2606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Mỗi cấu hình chỉ chạy 1 seed ⇒ chênh lệch nhỏ chưa đủ kết luận chắc chắn.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46520" y="3337560"/>
            <a:ext cx="411480" cy="4114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9516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Ngân sách huấn luyện không đồng nhất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95160" y="3657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Nhóm không CL dừng ở 1M, nhóm CL chạy 3M, run62 chạy 40.82M – so sánh không tuyệt đối.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46520" y="4389120"/>
            <a:ext cx="411480" cy="4114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95160" y="4343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Chưa kiểm tra khái quát hóa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95160" y="47091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Khóa luận chưa có tập bản đồ giữ riêng (held-out) đủ lớn để đánh giá trên bố cục chưa thấy.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46520" y="5440680"/>
            <a:ext cx="411480" cy="4114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995160" y="5394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Run59/run62 không cô lập biến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95160" y="5760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Thay đổi đồng thời nhiều yếu tố (quan sát + CL + ICM + thời lượng + siêu tham số).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KẾT LUẬN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nghiên cứu tiếp theo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 các kết quả và hạn chế, khóa luận đề xuất năm hướng phát triển: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63500" dist="25400" dir="5400000">
              <a:srgbClr val="C9C2B5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57400"/>
            <a:ext cx="137160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176272"/>
            <a:ext cx="548640" cy="5486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121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Chạy lại với nhiều seed &amp; cùng ngân sách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tra độ ổn định của kết luận về CL, ICM/RND/LSTM và run62.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63500" dist="25400" dir="5400000">
              <a:srgbClr val="C9C2B5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137160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044952"/>
            <a:ext cx="548640" cy="5486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044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29900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Tách riêng các yếu tố của run62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337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Thí nghiệm chỉ thay đổi một thành phần: lưới quan sát / số bước / ICM / siêu tham số.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63500" dist="25400" dir="5400000">
              <a:srgbClr val="C9C2B5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94760"/>
            <a:ext cx="137160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913632"/>
            <a:ext cx="548640" cy="5486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3858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Bổ sung đánh giá khái quát hóa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Tập bản đồ giữ riêng + tác nhân heuristic (luật/A*) làm mốc so sánh.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63500" dist="25400" dir="5400000">
              <a:srgbClr val="C9C2B5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663440"/>
            <a:ext cx="137160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782312"/>
            <a:ext cx="548640" cy="5486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782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3040" y="4727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Cải tiến biểu diễn quan sát &amp; hành động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6304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Đặc trưng đường đi học được, lọc action theo ngữ cảnh, học bắt chước khởi tạo chính sách.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553212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1B2D4E"/>
          </a:solidFill>
          <a:ln w="12700">
            <a:solidFill>
              <a:srgbClr val="1B2D4E"/>
            </a:solidFill>
            <a:prstDash val="solid"/>
          </a:ln>
          <a:effectLst>
            <a:outerShdw sx="100000" sy="100000" kx="0" ky="0" algn="bl" rotWithShape="0" blurRad="63500" dist="25400" dir="5400000">
              <a:srgbClr val="C9C2B5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5532120"/>
            <a:ext cx="137160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5650992"/>
            <a:ext cx="548640" cy="5486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650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463040" y="5596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Mở rộng quy trình sinh bản đồ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4630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 thích ứng – độ khó bản đồ điều chỉnh dựa trên năng lực hiện tại của tác nhân.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C9C2B5">
              <a:alpha val="25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C9C2B5">
              <a:alpha val="20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C9C2B5">
              <a:alpha val="15000"/>
            </a:srgbClr>
          </a:solidFill>
          <a:ln w="12700">
            <a:solidFill>
              <a:srgbClr val="C9C2B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spc="600" kern="0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hội đồng đã lắng nghe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66360" y="3246120"/>
            <a:ext cx="1828800" cy="0"/>
          </a:xfrm>
          <a:prstGeom prst="line">
            <a:avLst/>
          </a:prstGeom>
          <a:noFill/>
          <a:ln w="254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F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Rất mong nhận được câu hỏi và góp ý từ Quý Thầy/Cô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Thế Mạnh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Khóa luận tốt nghiệp 2026  •  PGS. TS. Nguyễn Trí Thành hướng dẫn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5120640"/>
            <a:ext cx="7589520" cy="1097280"/>
          </a:xfrm>
          <a:prstGeom prst="roundRect">
            <a:avLst>
              <a:gd name="adj" fmla="val 10000"/>
            </a:avLst>
          </a:prstGeom>
          <a:solidFill>
            <a:srgbClr val="C9C2B5">
              <a:alpha val="10000"/>
            </a:srgbClr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5212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Mã nguồn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5532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github.com/tranmanh2004/The-Knight   •   github.com/tranmanh2004/pcgnn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0" kern="0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B2D4E"/>
      </a:dk2>
      <a:lt2>
        <a:srgbClr val="1B2D4E"/>
      </a:lt2>
      <a:accent1>
        <a:srgbClr val="8B1A1A"/>
      </a:accent1>
      <a:accent2>
        <a:srgbClr val="8B1A1A"/>
      </a:accent2>
      <a:accent3>
        <a:srgbClr val="5F5E5A"/>
      </a:accent3>
      <a:accent4>
        <a:srgbClr val="8B1A1A"/>
      </a:accent4>
      <a:accent5>
        <a:srgbClr val="8B1A1A"/>
      </a:accent5>
      <a:accent6>
        <a:srgbClr val="8B1A1A"/>
      </a:accent6>
      <a:hlink>
        <a:srgbClr val="8B1A1A"/>
      </a:hlink>
      <a:folHlink>
        <a:srgbClr val="8B1A1A"/>
      </a:folHlink>
    </a:clrScheme>
    <a:fontScheme name="Office">
      <a:majorFont>
        <a:latin typeface="Cambri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Cambria"/>
        <a:font script="Bugi" typeface="Leelawadee UI"/>
        <a:font script="Bopo" typeface="Microsoft JhengHei"/>
        <a:font script="Java" typeface="Javanese Text"/>
        <a:font script="Lisu" typeface="Cambria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Cambria"/>
        <a:font script="Hebr" typeface="Cambri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mbria"/>
        <a:font script="Uigh" typeface="Microsoft Uighur"/>
        <a:font script="Geor" typeface="Sylfaen"/>
        <a:font script="Armn" typeface="Cambria"/>
        <a:font script="Bugi" typeface="Leelawadee UI"/>
        <a:font script="Bopo" typeface="Microsoft JhengHei"/>
        <a:font script="Java" typeface="Javanese Text"/>
        <a:font script="Lisu" typeface="Cambria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FFFFFF"/>
                <a:satMod val="1B2D4E"/>
                <a:tint val="67000"/>
              </a:schemeClr>
            </a:gs>
            <a:gs pos="50000">
              <a:schemeClr val="phClr">
                <a:lumMod val="1B2D4E"/>
                <a:satMod val="1B2D4E"/>
                <a:tint val="73000"/>
              </a:schemeClr>
            </a:gs>
            <a:gs pos="100000">
              <a:schemeClr val="phClr">
                <a:lumMod val="1B2D4E"/>
                <a:satMod val="8B1A1A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B2D4E"/>
                <a:lumMod val="1B2D4E"/>
                <a:tint val="94000"/>
              </a:schemeClr>
            </a:gs>
            <a:gs pos="50000">
              <a:schemeClr val="phClr">
                <a:satMod val="FFFFFF"/>
                <a:lumMod val="FFFFFF"/>
                <a:shade val="FFFFFF"/>
              </a:schemeClr>
            </a:gs>
            <a:gs pos="100000">
              <a:schemeClr val="phClr">
                <a:lumMod val="99000"/>
                <a:satMod val="FFFFFF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C9C2B5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FFFFFF"/>
          </a:schemeClr>
        </a:solidFill>
        <a:gradFill rotWithShape="1">
          <a:gsLst>
            <a:gs pos="0">
              <a:schemeClr val="phClr">
                <a:tint val="93000"/>
                <a:satMod val="FFFFFF"/>
                <a:shade val="98000"/>
                <a:lumMod val="1B2D4E"/>
              </a:schemeClr>
            </a:gs>
            <a:gs pos="50000">
              <a:schemeClr val="phClr">
                <a:tint val="98000"/>
                <a:satMod val="FFFFFF"/>
                <a:shade val="90000"/>
                <a:lumMod val="1B2D4E"/>
              </a:schemeClr>
            </a:gs>
            <a:gs pos="100000">
              <a:schemeClr val="phClr">
                <a:shade val="63000"/>
                <a:satMod val="FFFFFF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Khóa luận tốt nghiệp - DRL Agent cho game Roguelike</dc:title>
  <dc:subject>PptxGenJS Presentation</dc:subject>
  <dc:creator>Trần Thế Mạnh</dc:creator>
  <cp:lastModifiedBy>Trần Thế Mạnh</cp:lastModifiedBy>
  <cp:revision>1</cp:revision>
  <dcterms:created xsi:type="dcterms:W3CDTF">2026-05-29T01:25:58Z</dcterms:created>
  <dcterms:modified xsi:type="dcterms:W3CDTF">2026-05-29T01:25:58Z</dcterms:modified>
</cp:coreProperties>
</file>