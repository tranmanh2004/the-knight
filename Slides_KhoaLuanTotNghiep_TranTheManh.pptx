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So sánh phần thưởng tail-50 (1M bước)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tail-50 @ 1M bước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run34 (PPO)</c:v>
                  </c:pt>
                  <c:pt idx="1">
                    <c:v>run35 (ICM)</c:v>
                  </c:pt>
                  <c:pt idx="2">
                    <c:v>run36 (RND)</c:v>
                  </c:pt>
                  <c:pt idx="3">
                    <c:v>run42 (LSTM)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2.073</c:v>
                </c:pt>
                <c:pt idx="1">
                  <c:v>2.416</c:v>
                </c:pt>
                <c:pt idx="2">
                  <c:v>2.487</c:v>
                </c:pt>
                <c:pt idx="3">
                  <c:v>2.411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So sánh các thí nghiệm dùng CL (3M bước)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trung bình trên nhóm Khó</c:v>
                </c:pt>
              </c:strCache>
            </c:strRef>
          </c:tx>
          <c:spPr>
            <a:solidFill>
              <a:srgbClr val="84CC1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run46
CL</c:v>
                  </c:pt>
                  <c:pt idx="1">
                    <c:v>run47
CL+LSTM</c:v>
                  </c:pt>
                  <c:pt idx="2">
                    <c:v>run50
CL+ICM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3.843</c:v>
                </c:pt>
                <c:pt idx="1">
                  <c:v>3.765</c:v>
                </c:pt>
                <c:pt idx="2">
                  <c:v>4.369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Entropy tail-50 của các run chính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tail-50 (nat)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run34</c:v>
                  </c:pt>
                  <c:pt idx="1">
                    <c:v>run35</c:v>
                  </c:pt>
                  <c:pt idx="2">
                    <c:v>run36</c:v>
                  </c:pt>
                  <c:pt idx="3">
                    <c:v>run42</c:v>
                  </c:pt>
                  <c:pt idx="4">
                    <c:v>run46</c:v>
                  </c:pt>
                  <c:pt idx="5">
                    <c:v>run47</c:v>
                  </c:pt>
                  <c:pt idx="6">
                    <c:v>run50</c:v>
                  </c:pt>
                  <c:pt idx="7">
                    <c:v>run54</c:v>
                  </c:pt>
                  <c:pt idx="8">
                    <c:v>run55</c:v>
                  </c:pt>
                  <c:pt idx="9">
                    <c:v>run62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4.408</c:v>
                </c:pt>
                <c:pt idx="1">
                  <c:v>4.407</c:v>
                </c:pt>
                <c:pt idx="2">
                  <c:v>4.406</c:v>
                </c:pt>
                <c:pt idx="3">
                  <c:v>4.405</c:v>
                </c:pt>
                <c:pt idx="4">
                  <c:v>4.409</c:v>
                </c:pt>
                <c:pt idx="5">
                  <c:v>4.405</c:v>
                </c:pt>
                <c:pt idx="6">
                  <c:v>4.412</c:v>
                </c:pt>
                <c:pt idx="7">
                  <c:v>4.407</c:v>
                </c:pt>
                <c:pt idx="8">
                  <c:v>4.408</c:v>
                </c:pt>
                <c:pt idx="9">
                  <c:v>3.048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6"/>
          <c:min val="2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Clear rate</c:v>
                </c:pt>
              </c:strCache>
            </c:strRef>
          </c:tx>
          <c:spPr>
            <a:solidFill>
              <a:srgbClr val="84CC16">
                <a:alpha val="8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4CC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run46
CL cơ sở (207D)</c:v>
                  </c:pt>
                  <c:pt idx="1">
                    <c:v>run62
Lưới cục bộ (432D)</c:v>
                  </c:pt>
                  <c:pt idx="2">
                    <c:v>run59
BFS (210D)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0.267</c:v>
                </c:pt>
                <c:pt idx="1">
                  <c:v>0.666</c:v>
                </c:pt>
                <c:pt idx="2">
                  <c:v>0.846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QUỐC GIA HÀ NỘI  •  TRƯỜNG ĐẠI HỌC CÔNG NGHỆ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228600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TỐT NGHIỆP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VÀ ỨNG DỤNG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HỌC TĂNG CƯỜNG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xây dựng AGENT trong thể loại game ROGUELIKE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4800" y="4023360"/>
            <a:ext cx="3931920" cy="0"/>
          </a:xfrm>
          <a:prstGeom prst="line">
            <a:avLst/>
          </a:prstGeom>
          <a:noFill/>
          <a:ln w="254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PGS. TS. Nguyễn Trí Thành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0" y="548640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Deep RL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548640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PPO + ML-Agents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548640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PCGNN + Unity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NỘI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cảnh, bài toán, mục tiêu MT1–MT4, câu hỏi nghiên cứu Q1–Q3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RL, PPO, ICM/RND, LSTM, PCGNN, Curriculum Learning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08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108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hệ thống tác nhân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429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POMDP, không gian quan sát 207D, hành động (3,3,3,9), hàm thưởng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86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và thực nghiệm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206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Unity, ma trận 9 thí nghiệm cô lập biến + 2 mở rộng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63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và đánh giá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của CL, kỹ thuật khám phá, vùng bão hòa entropy, run59/run62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406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45920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và hướng phát triển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mục tiêu, đóng góp, hạn chế và mở rộng tiếp theo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cảnh, bài toán, mục tiêu và câu hỏi nghiên cứu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ba thách thức của bài toán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hành động Roguelike đặt ra ba thách thức đồng thời cho RL agent: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7744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phối bản đồ thay đổi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517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lượt chơi (episode) là một bản đồ PCGNN khác nhau ⇒ tác nhân không thể ghi nhớ bố cục, phải khái quát hóa qua nhiều cấu hình không gian.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03320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hành động đa nhánh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977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3, 3, 9) = 243 tổ hợp – phải phối hợp đồng thời di chuyển, chiến đấu, lướt và hướng tấn công trong thời gian thực.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1247120" cy="1143000"/>
          </a:xfrm>
          <a:prstGeom prst="roundRect">
            <a:avLst>
              <a:gd name="adj" fmla="val 96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029200"/>
            <a:ext cx="594360" cy="5943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 thưa thớt và trễ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3035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hiệu quan trọng (hạ kẻ địch, dọn phòng) chỉ xuất hiện sau chuỗi tiếp cận – né tránh – căn hướng – tấn công.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Cần kết hợp nhiều cơ chế (CL + khám phá + biểu diễn) thay vì chỉ dùng PPO đơn thuần.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biểu bài toán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môi trường Unity tạo phòng chiến đấu Roguelike tự động, huấn luyện một tác nhân RL tự điều khiển nhân vật để dọn sạch kẻ địch.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10972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(input)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207 chiều mô tả tác nhân, kẻ địch trong tầm nhìn, đạn đang bay và tường xung quanh.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37744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377440"/>
            <a:ext cx="109728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▸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17804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 (output)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7804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nhánh rời rạc (3, 3, 3, 9): moveX, moveY, lệnh chiến đấu/lướt, hướng ngắm.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69080"/>
            <a:ext cx="109728" cy="1508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▸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716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tín hiệu kết quả thưa (hạ kẻ địch, dọn phòng) và định hình dày (tiếp cận, căn hướng).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56235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4069080"/>
            <a:ext cx="109728" cy="15087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▸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7804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TỐI ƯU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chính sách πθ(a|s) tối đa hóa kỳ vọng tổng thưởng chiết khấu E[Σγᵗrₜ].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Lượt chơi kết thúc khi tác nhân dọn sạch kẻ địch  •  hết HP  •  hết thời gian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cụ thể (MT1 – MT4)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tổng quát: xây dựng tác nhân DRL chiến đấu hiệu quả trên bản đồ sinh tự động, đạt clear_rate tail-50 ≥ 0.5 trên nhóm bản đồ Khó.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F8F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14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2487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RL agent dọn phòng ổn định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clear_rate tail-50 ≥ 0.5 trên nhóm bản đồ Khó và tăng kills/episode.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2860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F8F9F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5146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2487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tác động của phần thưởng thưa &amp; bản đồ thay đổi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063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Curriculum Learning với bản đồ PCGNN, kỳ vọng cải thiện ≥ 20% so với PPO cơ sở.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F8F9F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3434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43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4315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kỹ thuật hỗ trợ hiệu quả nhất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ICM, RND, LSTM – kỹ thuật nào tạo cải thiện &gt; 20% qua thí nghiệm cô lập biến.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11480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43434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343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4315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ảnh hưởng biểu diễn quan sát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thông tin không gian (BFS, lưới cục bộ) có giúp giảm entropy &amp; tăng clear_rate?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MT có ngưỡng định lượng riêng (≥ 0.5, +20%, ...) làm thước đo thực nghiệm cho Chương 4.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câu hỏi nghiên cứu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164592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331720" y="19202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nào tạo cải thiện lớn nhất?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23317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số ICM, RND, LSTM và Curriculum Learning – kỹ thuật nào tạo ra cải thiện rõ rệt nhất khi huấn luyện tác nhân chiến đấu Roguelike?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54680"/>
            <a:ext cx="164592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331720" y="333756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hiệu ứng bổ trợ khi kết hợp CL?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31720" y="374904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kết hợp Curriculum Learning với ICM/RND/LSTM, có xuất hiện tác động cộng hưởng (synergy) hay không?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572000"/>
            <a:ext cx="164592" cy="1280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00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331720" y="47548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diễn quan sát quan trọng đến đâu?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31720" y="516636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diễn quan sát và tín hiệu điều hướng (BFS, lưới cục bộ) ảnh hưởng như thế nào đến khả năng dọn phòng của tác nhân?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trả lời: ma trận thí nghiệm cô lập biến gồm 9 lần chạy chính + 2 thí nghiệm mở rộng (run59 BFS, run62 lưới cục bộ).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MỞ ĐẦU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đề xuất &amp; đóng góp chính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quy trình huấn luyện 4 thành phần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PCGNN sinh bản đồ + BFS kiểm tra hợp lệ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697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Dễ/Trung bình/Khó + TilemapGenerator nạp Unity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383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CombatAgent (vector 207D, action (3,3,3,9)) + PPO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nghiệm mở rộng biểu diễn quan sát (run59, run62)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chính của khóa luận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DRL hoàn chỉnh cho Roguelike trong Unity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PCGNN: BFS đặt P/E, thay chỉ số gốc bằng reachable_ratio, dead_end_ratio, difficulty_score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CombatAgent quan sát 207D + hành động (3,3,3,9)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thực nghiệm: CL cải thiện reward +85% (2.073 → 3.843)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vùng bão hòa entropy 4.40 nat &amp; nút thắt biểu diễn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03504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Run62 (lưới cục bộ + CL + ICM, 40.82M bước) đạt clear_rate 0.666 – vượt ngưỡng mục tiêu MT1 (≥ 0.5)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· PPO · ICM/RND · LSTM · PCGNN · CL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tăng cường (RL) &amp; Proximal Policy Optimization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MDP (S, A, P, R, γ)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nhân quan sát sₜ → chọn hành động aₜ → nhận rₜ → chuyển sang sₜ₊₁. Mục tiêu: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J(πθ) = 𝔼τ∼πθ [ Σₜ γᵗ rₜ 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khó khăn điển hình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↔ khai thác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 trễ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thời gian giữa các mẫu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– Proximal Policy Optimization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nền vì hỗ trợ tốt action rời rạc đa nhánh trong Unity ML-Agents, ổn định cao. Kiến trúc Actor-Critic.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560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4C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L_CLIP = 𝔼[ min(ρₜÂₜ, clip(ρₜ, 1-ε, 1+ε) Âₜ)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mục tiêu PPO gồm 3 thành phần: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657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chính sách (policy loss)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giá trị (value loss)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Thưởng entropy – duy trì khám phá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8F9F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GAE – Generalized Advantage Estimation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δₜ = rₜ + γV(sₜ₊₁) – V(sₜ)        Â_t^GAE = Σ(γλ)ˡ δₜ₊ₗ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trong Roguelike: hành động có ích thường không tạo phần thưởng tức thời (tiếp cận → né → căn hướng → tấn công). GAE truyền ngược tín hiệu thành công về các bước trước, giúp PPO học chuỗi hành vi dài.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 nội tại: ICM &amp; RND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6235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– Intrinsic Curiosity Module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mô hình phụ trên không gian đặc trưng φ(s):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Inverse model: dự đoán aₜ từ (φ(sₜ), φ(sₜ₊₁))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 model: dự đoán φ̂(sₜ₊₁) từ (φ(sₜ), aₜ)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r_ICM = ½ ‖φ̂(sₜ₊₁) – φ(sₜ₊₁)‖²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khích trạng thái khó dự đoán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chế: inverse model khó học với action đa nhánh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run35: inverse loss ~4.36, gần entropy chính sách 4.40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554480"/>
            <a:ext cx="562356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544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 – Random Network Distillation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468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mạng nơ-ron: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Mạng mục tiêu f (cố định, ngẫu nhiên)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Mạng dự đoán f̂_θ (học)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dự đoán = phần thưởng nội tại.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4290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429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4C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r_RND = ‖f̂_θ(sₜ) – f(sₜ)‖²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phụ thuộc action ⇒ tránh nhược điểm của ICM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Thưởng cho mới lạ nhưng không gắn với chiến đấu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khám phá góc phòng thay vì học tiếp cận địch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trực tiếp ICM vs RND qua thí nghiệm cô lập biến (run35 vs run36).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LSTM &amp; Curriculum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Bộ nhớ LSTM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duy trì trạng thái ẩn hₜ và cell cₜ qua các bước thời gian thông qua cơ chế cổng (forget – input – output).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trong đề tài: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lũy thông tin lịch sử (đạn, hồi chiêu, khuất tầm nhìn)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size = 256, sequence length = 64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chế: học chậm, chi phí tính toán cao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không hữu ích nếu quan sát đã đủ thông tin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623560" cy="4572000"/>
          </a:xfrm>
          <a:prstGeom prst="roundRect">
            <a:avLst>
              <a:gd name="adj" fmla="val 24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Curriculum Learning (CL)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quá trình học từ Dễ → Trung bình → Khó. Điều kiện chuyển mức dùng trung bình trượt EMA của phần thưởng.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06324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Ḡₜ = (1-α) Ḡₜ₋₁ + α Gₜ      Khi Ḡₜ ≥ θₗ ⇒ tăng difficulty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39776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độ khó khám phá ban đầu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Dễ ⇒ tác nhân thường xuyên hoàn thành ⇒ tín hiệu học sớm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tham số difficulty qua ML-Agents Academy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chế: ngưỡng θₗ phải chỉnh tay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kỹ thuật quan trọng nhất – sẽ thấy ở Chương 4: CL → +85% reward so với PPO cơ sở.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CƠ SỞ LÝ THUYẾT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PCGNN – Sinh bản đồ bằng NEAT + Novelty Search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PCGNN tiến hóa một mạng nơ-ron fθ để sinh bản đồ theo từng ô: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011680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0116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t_{i,j} = argmax fθ ( C(i,j), z 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C(i,j): ngữ cảnh lân cận 3×3      •      z: nhiễu ngẫu nhiên để đa dạng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PCGNN gốc hướng tới bài toán mê cung → cần 3 điều chỉnh cho Roguelike chiến đấu: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2219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hậu xử lý đặt P/E + BFS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0873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vị trí tác nhân (P) và kẻ địch (E) trên cùng thành phần liên thông, BFS xác nhận đường đi tồn tại.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6908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nhóm chỉ số gốc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9560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leniency, A* diff, compression distance. Dùng reachable_ratio, dead_end_ratio, difficulty_score.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559552"/>
            <a:ext cx="502920" cy="50292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559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generator ngoại tuyến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58247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+ kiểm tra trước khi đưa vào Unity ⇒ ổn định huấn luyện, người thiết kế chọn lại bản đồ.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HỆ THỐNG TÁC NHÂN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POMDP · Quan sát · Hành động · Phần thưởng · PCGNN · CL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quy trình huấn luyện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khối thiết kế ⇄ thách thức ⇄ mục tiêu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PCGNN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bản đồ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30552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313432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+ chỉ số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13432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hợp lệ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86784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69664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độ khó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9664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/ TB / Khó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43016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25896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TilemapGen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25896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nạp bản đồ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99248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82128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82128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+ hành động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55480" y="2103120"/>
            <a:ext cx="201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738360" y="21031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3836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chính sách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lượt chơi  ⇄  PPO cập nhật chính sách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 khối thiết kế ↔ Mục tiêu MT1–MT4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Khối thiết kế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Thách thức giải quyết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sát 207D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 tình huống chiến đấu giàu nhưng gọn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MT1, MT4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động (3,3,3,9)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Phối hợp đồng thời di chuyển – ngắm – chiến đấu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Hàm thưởng v1/v2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học sớm khi tín hiệu kết quả còn thưa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PCGNN + BFS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phối bản đồ thay đổi mỗi lượt chơi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thưởng thưa thớt và trễ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Actor-Critic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Cập nhật ổn định trên hành động đa nhánh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MT1, MT3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quan sát: vector 207 chiều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vector (không phải ảnh pixel) ⇒ giảm chi phí mẫu, tách rõ thông tin chiến đấu.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tác nhân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Máu, đạn, hồi chiêu, vũ khí, tốc độ, sát thương gần đây, hướng vận tốc.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15768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715768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07208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toàn cục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07208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kẻ địch / đạn nhìn thấy, thời gian lượt chơi.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74336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974336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65776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Kẻ địch (3 × 18)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65776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trí, vận tốc tương đối, khoảng cách, máu, mức đe dọa, hồi chiêu.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32904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7232904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24344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Đạn (10 × 12)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24344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trí, vận tốc, khoảng cách, thời gian va chạm, loại chủ sở hữu.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91472" y="20574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9491472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82912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Tường (16 tia ray)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82912" y="3703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tia đều quanh tác nhân, khoảng cách chuẩn hóa tới tường gần nhất.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091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Tổng:  13  +  4  +  54  +  120  +  16  =  207 chiều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nguồn quan sát một phần (POMDP)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F8F9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 hữu hạn (VisionRadius = 20)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 hữu hạn (VisionRadius = 20)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F8F9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976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ngắm bị tường chắn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ngắm bị tường chắn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3816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F8F9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lượng hữu hạn vector (MaxEnemies=3, MaxBullets=10)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138160" y="589788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381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lượng hữu hạn vector (MaxEnemies=3, MaxBullets=10)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hành động đa nhánh (3, 3, 3, 9)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mỗi bước, tác nhân phải đồng thời quyết định: đi đâu, có tấn công/lướt không, ngắm hướng nào?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697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moveX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94460" y="2743200"/>
            <a:ext cx="822960" cy="822960"/>
          </a:xfrm>
          <a:prstGeom prst="ellipse">
            <a:avLst/>
          </a:prstGeom>
          <a:solidFill>
            <a:srgbClr val="F8F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446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trái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phải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103120"/>
            <a:ext cx="269748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74820" y="2743200"/>
            <a:ext cx="822960" cy="822960"/>
          </a:xfrm>
          <a:prstGeom prst="ellipse">
            <a:avLst/>
          </a:prstGeom>
          <a:solidFill>
            <a:srgbClr val="F8F9F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482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47472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xuống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lên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103120"/>
            <a:ext cx="269748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55180" y="2743200"/>
            <a:ext cx="822960" cy="822960"/>
          </a:xfrm>
          <a:prstGeom prst="ellipse">
            <a:avLst/>
          </a:prstGeom>
          <a:solidFill>
            <a:srgbClr val="F8F9F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518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35508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tấn công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lướt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21031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103120"/>
            <a:ext cx="2697480" cy="50292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1214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9828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35540" y="2743200"/>
            <a:ext cx="822960" cy="822960"/>
          </a:xfrm>
          <a:prstGeom prst="ellipse">
            <a:avLst/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3554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23544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hướng + 8 hướng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 × 3 × 9 = 243 tổ hợp hành động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Hₘₐₓ = ln(3) + ln(3) + ln(3) + ln(9) ≈ 5.49 nat   ←   mốc tham chiếu cho phân tích entropy ở Chương 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Cơ chế lọc hành động hợp lệ (action masking): tấn công/lướt bị che khi vũ khí/kỹ năng chưa sẵn sàng.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Tách 4 nhánh giúp PPO học từng quyết định độc lập, thay vì 243 softmax phẳng.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phần thưởng: hai phiên bản v1 &amp; v2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tín hiệu KẾT QUẢ THƯA (hạ địch, dọn phòng) + ĐỊNH HÌNH DÀY (tiếp cận, căn hướng).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463040"/>
                <a:gridCol w="146304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kiện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Gây sát thương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Khuyến khích gây sát thương thay vì chỉ né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 một kẻ địch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 hiệu kết quả thưa nhưng có ý nghĩa chiến thuật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Dọn sạch phòng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 cuối – v2 tăng mạnh tín hiệu hoàn thành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Tiếp cận mục tiêu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+0.008·Δd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+0.003·Δd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Định hình – v2 giảm để tránh chỉ tối ưu tiếp cận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 công đúng hướng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Tăng phần thưởng cho ý định tấn công có căn chỉnh tốt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Đứng gần địch không hành động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Phạt hành vi chần chừ – v2 phạt mạnh hơn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Tác nhân chết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 hiệu kết thúc âm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029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120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v1 (run34–run54)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44068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định hình cao hơn. Dùng cho 8 trong 9 thí nghiệm cô lập biến chính.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5029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5120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v2 (run55)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544068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thưởng kết quả + phạt chần chừ mạnh hơn. Thang khác ⇒ không so trực tiếp với v1.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bản đồ PCGNN &amp; phân loại độ khó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difficulty_score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difficulty_score = 0.90 × wall_ratio + 0.05 × min(path_norm, 1.0) + 0.03 × dead_end_ratio + 0.02 × astar_difficulty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bố bản đồ đưa vào Unity (60 bản đồ tuyển chọn)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54680"/>
            <a:ext cx="3611880" cy="41148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• 8.33%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526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tín hiệu học ban đầu (0 – 70k bước)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1546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3154680"/>
            <a:ext cx="36118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25196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• 8.33%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526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trung gian (70k – 140k bước)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31546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3154680"/>
            <a:ext cx="361188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046720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• 83.33%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4526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phối mục tiêu chiếm &gt; 95% thời gian huấn luyện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CL: 4 mức độ khó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(cố định)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8892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4612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(cố định)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3504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(cố định)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6676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823960" y="55778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2396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(ngẫu nhiên)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0 → 1 → 2 → 3        (chuyển khi EMA reward vượt ngưỡng θₗ)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THIẾT KẾ HỆ THỐNG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Actor-Critic &amp; cấu hình PPO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actor-critic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83080" y="219456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2194560"/>
            <a:ext cx="1188720" cy="9144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508760" y="21945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1945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7680" y="21945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17720" y="178308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830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(3,3,3,9)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7432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7432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2 lớp 256 đơn vị • normalize=true • lựa chọn LSTM tùy chọn (memory=256, seq=64)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Siêu tham số PPO chính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65960"/>
          <a:ext cx="5303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Tham số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trị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10⁻⁴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batch_size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buffer_size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(gamma)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(GAE)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 (clip)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(entropy coef)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10⁻³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530352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Nguyên tắc cô lập biến (ablation)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nguyên MLP 256×2 và toàn bộ siêu tham số PPO giữa các lần chạy run34–run54. Chỉ thay đổi đúng MỘT biến (CL / ICM / RND / LSTM / hàm thưởng). Tránh quy nhầm chênh lệch cho kỹ thuật được kiểm tra trong khi nguyên nhân thực sự nằm ở siêu tham số.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&amp; THỰC NGHIỆM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84CC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phát triển và ma trận 9 lần chạy cô lập biến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CÀI ĐẶT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phát triển &amp; huấn luyện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standalone + chế độ no-graphics + nhiều môi trường song song ⇒ giảm nhiễu, tăng tốc thu thập mẫu.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Editor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6000.1.3f1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103120"/>
            <a:ext cx="109728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TopDown Engine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v4.4 (demo Koala2D)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103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2103120"/>
            <a:ext cx="109728" cy="1280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TOOLKIT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ML-Agents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trainer, PPO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66160"/>
            <a:ext cx="109728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ML-AGENTS PACKAGE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v4.0.3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com.unity.ml-agents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566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3566160"/>
            <a:ext cx="109728" cy="1280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3050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GB VRAM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3566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0" y="3566160"/>
            <a:ext cx="109728" cy="128016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SONG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envs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(có run dùng 16)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16636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257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huấn luyện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M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640080" y="6080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cho mỗi run dùng CL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M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4114800" y="6080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cho run không dùng CL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0" y="5577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40.82 M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7772400" y="6080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cho run62 (cấu hình mở rộng)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THỰC NGHIỆM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thí nghiệm cô lập biến (9 + 2 runs)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run thay đổi đúng một biến so với cấu hình cơ sở run34 ⇒ cô lập tác động từng kỹ thuật.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45720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đổi so với cơ sở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 phân tích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C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cơ sở (207D, không CL)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Mốc so sánh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ICM trong khám phá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RND trong khám phá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vai trò bộ nhớ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(3 mức)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Đánh giá Curriculum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+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bổ trợ LSTM với 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bổ trợ ICM với 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4 bậc (Khó ngẫu nhiên)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hưởng chiến lược vị trí sinh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 + hàm thưởng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thang thưởng mới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sát 210D + tín hiệu 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Mở rộng: nút thắt biểu diễn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Lưới cục bộ 15×15 (432D), 40.82M bước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Mở rộng: lưới không gian cục bộ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Nhóm không CL    ● Nhóm có CL    ● Cấu hình mở rộng (run59/run62)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&amp; ĐÁNH GIÁ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CL · Khám phá · Vùng bão hòa entropy · run59/run62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(ICM/RND) &amp; bộ nhớ (LSTM) – cải thiện nhẹ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9808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0" y="19659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F8F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20574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03920" y="20391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loss ~4.36 nat, vẫn gần entropy chính sách 4.40. Học biểu diễn chưa đủ mạnh.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28803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F8F9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29718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03920" y="29535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nhẹ hơn ICM. Phần thưởng nội tại giảm nhanh khi mô hình quen.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37947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F8F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38862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3886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503920" y="38679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chậm hơn nhưng tăng dần (1.64 → 2.71 ở 1M bước). Lợi ích chưa rõ.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937760"/>
            <a:ext cx="11247120" cy="1463040"/>
          </a:xfrm>
          <a:prstGeom prst="roundRect">
            <a:avLst>
              <a:gd name="adj" fmla="val 7500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Kết luận nhóm thí nghiệm khám phá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ICM, RND và LSTM chạy độc lập đều chỉ cải thiện reward dưới ngưỡng đáng kể (&lt; 20%). Khó khăn chính của môi trường KHÔNG chỉ ở thiếu tín hiệu khám phá – mà còn ở độ khó ban đầu của bản đồ và nhiệm vụ chiến đấu phức tạp. Phải kết hợp với Curriculum Learning để thấy hiệu quả rõ rệt.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Learning – cải thiện rõ nhất (+85% reward)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937760" cy="2743200"/>
          </a:xfrm>
          <a:prstGeom prst="roundRect">
            <a:avLst>
              <a:gd name="adj" fmla="val 5000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RUN46  •  PPO + CL (3 mức)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+85%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 tăng từ 2.073 → 3.843 trên nhóm bản đồ Khó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với PPO cơ sở (run34)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554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hành vi run46 (tail-50)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1965960"/>
            <a:ext cx="288036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965960"/>
            <a:ext cx="9144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057400"/>
            <a:ext cx="25603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97880" y="259461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trung bình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196596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32520" y="1965960"/>
            <a:ext cx="91440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2057400"/>
            <a:ext cx="26517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961120" y="259461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 tail-50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200400"/>
            <a:ext cx="288036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200400"/>
            <a:ext cx="91440" cy="11430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291840"/>
            <a:ext cx="25603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897880" y="382905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/ episode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3200400"/>
            <a:ext cx="2971800" cy="1143000"/>
          </a:xfrm>
          <a:prstGeom prst="roundRect">
            <a:avLst>
              <a:gd name="adj" fmla="val 8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32520" y="3200400"/>
            <a:ext cx="91440" cy="1143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3291840"/>
            <a:ext cx="26517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961120" y="382905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dash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biến chuyển mức độ khó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029200"/>
            <a:ext cx="365760" cy="36576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DỄ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6.364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70k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0" y="4937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80560" y="502920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TRUNG BÌNH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4.181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 – 140k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18120" y="4937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83880" y="5029200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KHÓ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4108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3.843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 – 3M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5650992"/>
            <a:ext cx="11247120" cy="841248"/>
          </a:xfrm>
          <a:prstGeom prst="roundRect">
            <a:avLst>
              <a:gd name="adj" fmla="val 10870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6875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chế: ở mức Dễ, tác nhân thường xuyên hoàn thành phòng -&gt; học chuỗi tiếp cận – ngắm – tấn công. Khi sang Trung bình &amp; Khó, chính sách đã có kỹ năng cơ bản thay vì khám phá từ ngẫu nhiên.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CL với LSTM và ICM (Q2: bổ trợ?)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132320" y="155448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8F9F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+ LSTM (run47)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20574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3.765 ≈ run46 (3.843). LSTM KHÔNG tạo bổ trợ rõ với CL.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26974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Policy loss = 0.079 (gấp 5× run46) ⇒ LSTM cần nhiều mẫu hơn để ổn định.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3611880"/>
            <a:ext cx="4663440" cy="1874520"/>
          </a:xfrm>
          <a:prstGeom prst="roundRect">
            <a:avLst>
              <a:gd name="adj" fmla="val 5854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3749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+ ICM (run50)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41148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4.369 &gt; run46 (+13.7%). Kills/ep = 1.016, Clear = 0.273. ICM CÓ bổ trợ nhẹ khi CL đã tạo nền học.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0" y="50292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inverse loss 4.337 vẫn gần vùng entropy ⇒ chưa giải triệt để vấn đề biểu diễn.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7150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Trả lời Q2:  CL là yếu tố nền quan trọng nhất. ICM tạo thêm lợi ích nhẹ khi đã có CL; LSTM chưa thấy bổ trợ rõ trong ngân sách huấn luyện hiện tại.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tượng bão hòa entropy ở mức 4.40 nat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4672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0" y="1554480"/>
            <a:ext cx="9144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6459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5.49 nat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275320" y="22585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Hₘₐₓ lý thuyết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29260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0" y="2926080"/>
            <a:ext cx="91440" cy="1280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30175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 nat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75320" y="36301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bão hòa quan sát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42976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46720" y="4297680"/>
            <a:ext cx="91440" cy="1280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75320" y="4389120"/>
            <a:ext cx="3520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 nat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275320" y="50017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run62 – vượt vùng bão hòa!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85216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Vùng bão hòa 4.40 nat KHÔNG được giải bởi ICM, RND, LSTM, CL hay hàm thưởng v2 (quan sát 207D, 1-3M bước). Khi run62 thay quan sát thành lưới 15×15 (432D) + 40.82M bước, entropy giảm bền vững xuống 3.048 nat – chứng tỏ nút thắt là biểu diễn không gian.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Run59 – Bổ sung tín hiệu dẫn đường BFS (210D)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nghiệm mở rộng: thêm 3 chiều BFS vào quan sát.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F8F9F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Tín hiệu BFS bổ sung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bước kế tiếp trên đường đi ngắn nhất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đường đi (chuẩn hóa) tới kẻ địch sống gần nhất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hỗ trợ tiếp cận mục tiêu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Không phải RL thuần – là phép can thiệp có chủ đích vào kênh quan sát để kiểm tra nút thắt.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vùng cuối quá trình huấn luyện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4231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423160"/>
            <a:ext cx="914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9788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 (tail)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0" y="24231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0" y="2423160"/>
            <a:ext cx="9144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0684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/ episode (tail)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4290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429000"/>
            <a:ext cx="91440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14.77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897880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(tail)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0" y="34290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0" y="3429000"/>
            <a:ext cx="91440" cy="9144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006840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(nat) – giảm sâu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21208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Trả lời Q3 – Biểu diễn quan sát là một nút thắt thực tế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 tăng từ 0.267 (run46) → 0.846. Entropy thoát khỏi vùng bão hòa 4.40 → 3.62. Cải thiện lớn nhất trong toàn bộ thử nghiệm. ⇒ Nút thắt KHÔNG chỉ ở PPO hay khám phá, mà còn ở biểu diễn không gian.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Run62 – Lưới không gian cục bộ 15×15 (432D, 40.82M bước)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8F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Cấu hình mở rộng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sát: lưới cục bộ 15×15 → 432 chiều (thay 207)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4 bậc + ICM (hệ số 0.001)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aggressive_seek: kẻ địch truy đuổi chủ động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môi trường song song × 2 phiên = 40.82M bước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52160" y="1554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tail-50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9659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1965960"/>
            <a:ext cx="91440" cy="86868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05740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80760" y="244373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 ✓ MT1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9659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0" y="1965960"/>
            <a:ext cx="91440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05740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14.913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98280" y="244373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(max 19.695)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29718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2971800"/>
            <a:ext cx="91440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06324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80760" y="344957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/ episode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9718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0" y="2971800"/>
            <a:ext cx="91440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3063240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3.048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098280" y="344957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nat (-1.35 vs cũ)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clear rate qua các cấu hình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" y="4389120"/>
          <a:ext cx="112471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Run62 thu hẹp 69% khoảng cách tới run59 mà KHÔNG nhận trực tiếp hướng đi tối ưu. Vùng bão hòa entropy không phải giới hạn cứng – nó phụ thuộc biểu diễn + quy mô huấn luyện.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KẾT QUẢ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tổng hợp các cấu hình thí nghiệm chính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200400"/>
                <a:gridCol w="1097280"/>
                <a:gridCol w="1463040"/>
                <a:gridCol w="1325880"/>
                <a:gridCol w="13716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Thiết lập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Bước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cơ sở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RND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CL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+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4 bậc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+ reward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9.337¹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Lưới cục bộ + CL + ICM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Reward v2 dùng thang khác, không so trực tiếp với v1.    ★ Cấu hình so sánh chính.    ◉ run62 dùng quan sát 432D.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3333"/>
            </a:avLst>
          </a:prstGeom>
          <a:solidFill>
            <a:srgbClr val="0B1027"/>
          </a:solidFill>
          <a:ln w="12700">
            <a:solidFill>
              <a:srgbClr val="0B1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Run62 vượt ngưỡng MT1 (clear ≥ 0.5)  •  CL = cải tiến lớn nhất trong nhóm 9 ablation  •  Biểu diễn quan sát = nút thắt tiếp theo cần giải quyết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6360" y="4846320"/>
            <a:ext cx="1828800" cy="0"/>
          </a:xfrm>
          <a:prstGeom prst="line">
            <a:avLst/>
          </a:prstGeom>
          <a:noFill/>
          <a:ln w="38100">
            <a:solidFill>
              <a:srgbClr val="FACC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mục tiêu · Đóng góp · Hạn chế ·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kết quả với mục tiêu MT1 – MT4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659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ĐẠT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dọn phòng ổn định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Run62 đạt clear_rate tail-50 = 0.666 &gt; ngưỡng mục tiêu 0.5 trên tập bản đồ thực nghiệm.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84CC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9659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ĐẠT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514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tác động phần thưởng thưa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tăng reward +85% (2.073 → 3.843), vượt xa ngưỡng 20%.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1148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830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MỘT PHẦN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ICM/RND/LSTM hiệu quả nhất?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ICM, RND, LSTM chạy độc lập chỉ cải thiện &lt; 20%. Chỉ ICM + CL có bổ trợ nhẹ.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84048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411480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KHẲNG ĐỊNH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4663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biểu diễn quan sát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5074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Run59 (BFS) và run62 (lưới cục bộ) cho thấy biểu diễn không gian là nút thắt quan trọng.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Tác nhân học được hành vi chiến đấu cơ bản; cải thiện rõ khi tổ chức theo độ khó hoặc khi quan sát giàu thông tin không gian hơn.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chính &amp; hạn chế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23560" cy="4892040"/>
          </a:xfrm>
          <a:prstGeom prst="roundRect">
            <a:avLst>
              <a:gd name="adj" fmla="val 2243"/>
            </a:avLst>
          </a:prstGeom>
          <a:solidFill>
            <a:srgbClr val="F8F9FE"/>
          </a:solidFill>
          <a:ln w="25400">
            <a:solidFill>
              <a:srgbClr val="84CC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Đóng góp chính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DRL hoàn chỉnh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sinh bản đồ PCGNN → kiểm tra BFS → CL → huấn luyện CombatAgent bằng PPO trong Unity.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11480" cy="4114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PCGNN cho chiến đấu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hậu xử lý đặt P/E, kiểm tra BFS, chỉ số mới reachable_ratio / dead_end_ratio / difficulty_score.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CombatAgent đa nhánh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709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207 chiều + hành động (3,3,3,9) cho phối hợp di chuyển – ngắm – tấn công – lướt.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411480" cy="4114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thực nghiệm về CL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760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là kỹ thuật hiệu quả nhất; phát hiện vùng bão hòa entropy 4.40 nat và nút thắt biểu diễn không gian.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5623560" cy="4892040"/>
          </a:xfrm>
          <a:prstGeom prst="roundRect">
            <a:avLst>
              <a:gd name="adj" fmla="val 2243"/>
            </a:avLst>
          </a:prstGeom>
          <a:solidFill>
            <a:srgbClr val="F8F9FE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Hạn chế cần lưu ý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46520" y="228600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9516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thống kê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cấu hình chỉ chạy 1 seed ⇒ chênh lệch nhỏ chưa đủ kết luận chắc chắn.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33375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huấn luyện không đồng nhất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không CL dừng ở 1M, nhóm CL chạy 3M, run62 chạy 40.82M – so sánh không tuyệt đối.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438912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kiểm tra khái quát hóa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4709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chưa có tập bản đồ giữ riêng (held-out) đủ lớn để đánh giá trên bố cục chưa thấy.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544068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9516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Run59/run62 không cô lập biến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95160" y="5760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đồng thời nhiều yếu tố (quan sát + CL + ICM + thời lượng + siêu tham số).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nghiên cứu tiếp theo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  |  Khóa luận tốt nghiệp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các kết quả và hạn chế, khóa luận đề xuất năm hướng phát triển: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57400"/>
            <a:ext cx="1371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76272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lại với nhiều seed &amp; cùng ngân sách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độ ổn định của kết luận về CL, ICM/RND/LSTM và run62.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13716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044952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2990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riêng các yếu tố của run62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337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nghiệm chỉ thay đổi một thành phần: lưới quan sát / số bước / ICM / siêu tham số.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94760"/>
            <a:ext cx="137160" cy="777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913632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858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đánh giá khái quát hóa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bản đồ giữ riêng + tác nhân heuristic (luật/A*) làm mốc so sánh.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663440"/>
            <a:ext cx="137160" cy="7772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782312"/>
            <a:ext cx="548640" cy="54864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4727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biểu diễn quan sát &amp; hành động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 đường đi học được, lọc action theo ngữ cảnh, học bắt chước khởi tạo chính sách.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5532120"/>
            <a:ext cx="13716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5650992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650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63040" y="5596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quy trình sinh bản đồ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630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thích ứng – độ khó bản đồ điều chỉnh dựa trên năng lực hiện tại của tác nhân.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1371600"/>
            <a:ext cx="2743200" cy="27432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đồng đã lắng nghe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66360" y="3246120"/>
            <a:ext cx="182880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mong nhận được câu hỏi và góp ý từ Quý Thầy/Cô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Thế Mạnh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tốt nghiệp 2026  •  PGS. TS. Nguyễn Trí Thành hướng dẫn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5120640"/>
            <a:ext cx="75895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Mã nguồn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5532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github.com/tranmanh2004/The-Knight   •   github.com/tranmanh2004/pcgnn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luận tốt nghiệp - DRL Agent cho game Roguelike</dc:title>
  <dc:subject>PptxGenJS Presentation</dc:subject>
  <dc:creator>Trần Thế Mạnh</dc:creator>
  <cp:lastModifiedBy>Trần Thế Mạnh</cp:lastModifiedBy>
  <cp:revision>1</cp:revision>
  <dcterms:created xsi:type="dcterms:W3CDTF">2026-05-29T01:25:58Z</dcterms:created>
  <dcterms:modified xsi:type="dcterms:W3CDTF">2026-05-29T01:25:58Z</dcterms:modified>
</cp:coreProperties>
</file>